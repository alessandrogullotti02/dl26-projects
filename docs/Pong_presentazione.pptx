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CF9BDF-F6A5-4008-992A-CFF79B6E6BEF}" v="101" dt="2026-09-23T20:30:49.796"/>
    <p1510:client id="{E9B8F469-89F6-4F8B-B85B-D480048A27BE}" v="32" dt="2026-09-23T19:52:43.6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FCA6804E-9D92-43CB-A116-1DCBD25DB88D}" type="datetimeFigureOut">
              <a:t>23/09/2026</a:t>
            </a:fld>
            <a:endParaRPr lang="it-IT"/>
          </a:p>
        </p:txBody>
      </p:sp>
      <p:sp>
        <p:nvSpPr>
          <p:cNvPr id="4" name="Segnaposto immagine diapositiva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E3E6F67-A734-43B0-A582-CD22DE4F9FFC}" type="slidenum">
              <a:t>‹N›</a:t>
            </a:fld>
            <a:endParaRPr lang="it-IT"/>
          </a:p>
        </p:txBody>
      </p:sp>
    </p:spTree>
    <p:extLst>
      <p:ext uri="{BB962C8B-B14F-4D97-AF65-F5344CB8AC3E}">
        <p14:creationId xmlns:p14="http://schemas.microsoft.com/office/powerpoint/2010/main" val="4089132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secondi,Buongiorno, presento il progetto su Atari Pong. L'idea centrale è studiare come una DQN impari una policy partendo dai pixel e come cambino i risultati quando modifichiamo tre elementi: il target TD, la schedule di esplorazione e il reward usato durante il training. Il progetto è individuale, quindi racconterò l'intera pipeline: setup, metodo, esperimenti, limiti e conclusioni. Il link GitHub lo inserirò nella versione finale della prima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secondi,Il punto di partenza è che Pong, in reinforcement learning, non usa un dataset statico. Ogni transizione è generata online dall'interazione tra agente e ambiente. Il reward originale è molto sparso: +1 se vinco il punto, -1 se lo perdo, zero quasi sempre. Quindi il problema non è solo classificare frame, ma imparare una sequenza di azioni che produce reward ritardati. Tutte le configurazioni sono valutate allo stesso modo: policy greedy, 20 episodi per checkpoint, reward Atari originale. Questo è importante perché gli shaping modificano il training, ma non la metrica finale.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secondi,Prima del metodo, chiarisco il protocollo. Il preprocessing è quello standard Atari: grayscale 84 per 84, frame skip 4, max-pooling e stack temporale di 4 frame. Lo spazio d'azione è ridotto a NOOP, UP e DOWN. Ogni configurazione usa lo stesso budget di 1.8 milioni di environment step e il confronto quantitativo primario usa gli stessi tre seed: 42, 2 e 3. Le medie e le deviazioni standard sono calcolate tra le medie dei seed, non tra episodi singoli. Questa distinzione evita di far sembrare il risultato più preciso di quanto sia. Le diagnostiche storiche con seed 1, 2 e 3 sono mantenute solo come analisi qualitativa.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secondi,Il cuore tecnico parte dalla baseline. L'input della rete è uno stack di quattro frame processati, quindi un tensore 4 per 84 per 84. La rete usa tre layer convoluzionali, poi un fully connected da 512 unità e infine tre Q-value, uno per azione. Il target della Vanilla DQN è quello standard: reward osservato più valore futuro stimato dalla target network, annullato quando la transizione è terminale. La loss è SmoothL1, cioè Huber con soglia unitaria: si comporta quadraticamente per errori piccoli e linearmente per errori grandi. Replay buffer e target network sono le due stabilizzazioni principali.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secondi,Rispetto alla baseline ho modificato tre leve. La prima è il target TD: Double DQN usa la rete online per scegliere l'azione migliore nello stato successivo e la target network per valutarla. Questo riduce l'accoppiamento tra selezione e valutazione che nella DQN standard può favorire sovrastime. La seconda leva è la schedule epsilon-greedy: lineare, esponenziale e costante. La terza è il reward shaping: bonus di durata del rally, PBRS basato sull'allineamento verticale tra pallina e racchetta, e bonus di contatto. Il contributo non è proporre un nuovo algoritmo teorico, ma confrontare queste varianti in modo controllato e interpretarne i risultati.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secondi,Passando ai risultati, il confronto più pulito è Vanilla DQN contro Double DQN, perché è paired seed-by-seed. Vanilla termina a 12.77 più o meno 2.05, Double DQN a 15.88 più o meno 1.93. Guardando i tre seed comuni, i delta sono positivi in tutti i casi e la differenza media è +3.12 punti. Questo è il risultato più solido narrativamente, ma va interpretato con cautela: con soli tre seed non voglio presentarlo come una prova statistica definitiva. Il messaggio è più preciso: nel campione osservato, la separazione selezione-valutazione di Double DQN ha prodotto un vantaggio coerente sul return finale.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 secondi,Nelle ablation, la cosa importante è non ridurre tutto al numero finale. Per epsilon-greedy, la schedule esponenziale ha la media finale migliore tra le tre e una dispersione contenuta. La costante non fallisce sempre, ma è molto sensibile al seed. Nel rally shaping, il bonus moderato è il più stabile; l'aggressivo invece introduce varianza estrema, con una replica che collassa. Nel PBRS, la scala 0.50 è il miglior risultato finale complessivo tra le configurazioni provate, 16.42 più o meno 0.83, però non accelera uniformemente: nella fase intermedia è più lenta e variabile, poi recupera. Quindi il takeaway è che lo shaping non è automaticamente utile: la scala del segnale ausiliario cambia sia prestazione sia stabilità.</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secondi,Una slide dedicata ai failure case è importante perché mostra cosa non funziona. Il caso più chiaro è il contact reward aggressivo, c uguale 0.50: due repliche finiscono circa a 7, ma una resta a -21, quindi la media diventa negativa e la dispersione enorme. Questo suggerisce che un bonus forte può distorcere il training, non solo densificare il reward. Inoltre il detector di contatto è sparso: gli eventi rilevati sono pochi rispetto al numero totale di step, quindi errori o mancate rilevazioni pesano molto. Anche le heatmap vanno lette con cautela: sono diagnostiche post-hoc e coprono circa il 62% delle transizioni, quindi non rappresentano l'intera distribuzione degli stati.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secondi,Concludo con il messaggio principale: una DQN convoluzionale può imparare Pong entro il budget sperimentale usato, ma piccole scelte sul target, sull'esplorazione e sul reward possono cambiare molto sia la stabilità sia il risultato finale. Primo takeaway: Double DQN migliora il confronto paired, ma non voglio sovrainterpretarlo statisticamente. Secondo: lo shaping migliore non è semplicemente quello più forte; PBRS a scala 0.50 funziona meglio nel finale, mentre rally e contact aggressivi diventano instabili. Terzo: le diagnostiche qualitative sono utili per capire la policy, però vanno dichiarate come tali. I limiti principali sono pochi seed, budget limitato e detector parziali; con più tempo farei più repliche, training più lunghi, altri giochi Atari e una ricerca più sistematica delle scale di shaping.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sp>
      <p:sp>
        <p:nvSpPr>
          <p:cNvPr id="3" name="Shape 1"/>
          <p:cNvSpPr/>
          <p:nvPr/>
        </p:nvSpPr>
        <p:spPr>
          <a:xfrm>
            <a:off x="566928" y="6419088"/>
            <a:ext cx="11045952" cy="0"/>
          </a:xfrm>
          <a:prstGeom prst="line">
            <a:avLst/>
          </a:prstGeom>
          <a:noFill/>
          <a:ln w="10160">
            <a:solidFill>
              <a:srgbClr val="25304E">
                <a:alpha val="85000"/>
              </a:srgbClr>
            </a:solidFill>
            <a:prstDash val="solid"/>
          </a:ln>
        </p:spPr>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E7897"/>
                </a:solidFill>
              </a:defRPr>
            </a:lvl1pPr>
          </a:lstStyle>
          <a:p>
            <a:pPr algn="l"/>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E7897"/>
                </a:solidFill>
              </a:defRPr>
            </a:lvl1pPr>
          </a:lstStyle>
          <a:p>
            <a:pPr algn="l"/>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658368" y="530352"/>
            <a:ext cx="6766560" cy="237744"/>
          </a:xfrm>
          <a:prstGeom prst="rect">
            <a:avLst/>
          </a:prstGeom>
          <a:noFill/>
          <a:ln/>
        </p:spPr>
        <p:txBody>
          <a:bodyPr wrap="square" lIns="0" tIns="0" rIns="0" bIns="0" rtlCol="0" anchor="ctr"/>
          <a:lstStyle/>
          <a:p>
            <a:pPr marL="0" indent="0">
              <a:buNone/>
            </a:pPr>
            <a:r>
              <a:rPr lang="en-US" sz="1050" b="1" dirty="0">
                <a:solidFill>
                  <a:srgbClr val="7DD3FC"/>
                </a:solidFill>
              </a:rPr>
              <a:t>Deep Learning: Advanced Models and Methods (DL26)</a:t>
            </a:r>
            <a:endParaRPr lang="en-US" sz="1050" dirty="0"/>
          </a:p>
        </p:txBody>
      </p:sp>
      <p:sp>
        <p:nvSpPr>
          <p:cNvPr id="3" name="Text 1"/>
          <p:cNvSpPr/>
          <p:nvPr/>
        </p:nvSpPr>
        <p:spPr>
          <a:xfrm>
            <a:off x="658368" y="1060704"/>
            <a:ext cx="6217920" cy="548640"/>
          </a:xfrm>
          <a:prstGeom prst="rect">
            <a:avLst/>
          </a:prstGeom>
          <a:noFill/>
          <a:ln/>
        </p:spPr>
        <p:txBody>
          <a:bodyPr wrap="square" lIns="0" tIns="0" rIns="0" bIns="0" rtlCol="0" anchor="ctr"/>
          <a:lstStyle/>
          <a:p>
            <a:pPr marL="0" indent="0">
              <a:buNone/>
            </a:pPr>
            <a:r>
              <a:rPr lang="en-US" sz="3700" b="1" dirty="0">
                <a:solidFill>
                  <a:srgbClr val="F8FAFC"/>
                </a:solidFill>
              </a:rPr>
              <a:t>Atari Pong</a:t>
            </a:r>
            <a:endParaRPr lang="en-US" sz="3700" dirty="0"/>
          </a:p>
        </p:txBody>
      </p:sp>
      <p:sp>
        <p:nvSpPr>
          <p:cNvPr id="4" name="Text 2"/>
          <p:cNvSpPr/>
          <p:nvPr/>
        </p:nvSpPr>
        <p:spPr>
          <a:xfrm>
            <a:off x="685800" y="1700784"/>
            <a:ext cx="5943600" cy="384048"/>
          </a:xfrm>
          <a:prstGeom prst="rect">
            <a:avLst/>
          </a:prstGeom>
          <a:noFill/>
          <a:ln/>
        </p:spPr>
        <p:txBody>
          <a:bodyPr wrap="square" lIns="0" tIns="0" rIns="0" bIns="0" rtlCol="0" anchor="ctr"/>
          <a:lstStyle/>
          <a:p>
            <a:pPr marL="0" indent="0">
              <a:buNone/>
            </a:pPr>
            <a:r>
              <a:rPr lang="en-US" sz="2000" dirty="0">
                <a:solidFill>
                  <a:srgbClr val="DCE4F2"/>
                </a:solidFill>
              </a:rPr>
              <a:t>DQN, Double DQN e Reward Shaping</a:t>
            </a:r>
            <a:endParaRPr lang="en-US" sz="2000" dirty="0"/>
          </a:p>
        </p:txBody>
      </p:sp>
      <p:sp>
        <p:nvSpPr>
          <p:cNvPr id="5" name="Text 3"/>
          <p:cNvSpPr/>
          <p:nvPr/>
        </p:nvSpPr>
        <p:spPr>
          <a:xfrm>
            <a:off x="694944" y="2249424"/>
            <a:ext cx="5394960" cy="566928"/>
          </a:xfrm>
          <a:prstGeom prst="rect">
            <a:avLst/>
          </a:prstGeom>
          <a:noFill/>
          <a:ln/>
        </p:spPr>
        <p:txBody>
          <a:bodyPr wrap="square" lIns="0" tIns="0" rIns="0" bIns="0" rtlCol="0" anchor="ctr">
            <a:normAutofit/>
          </a:bodyPr>
          <a:lstStyle/>
          <a:p>
            <a:pPr marL="0" indent="0">
              <a:buNone/>
            </a:pPr>
            <a:r>
              <a:rPr lang="en-US" sz="1450" dirty="0">
                <a:solidFill>
                  <a:srgbClr val="94A3B8"/>
                </a:solidFill>
              </a:rPr>
              <a:t>Un confronto multi-seed su come target TD, esplorazione e reward ausiliari cambiano il training.</a:t>
            </a:r>
            <a:endParaRPr lang="en-US" sz="1450" dirty="0"/>
          </a:p>
        </p:txBody>
      </p:sp>
      <p:sp>
        <p:nvSpPr>
          <p:cNvPr id="6" name="Shape 4"/>
          <p:cNvSpPr/>
          <p:nvPr/>
        </p:nvSpPr>
        <p:spPr>
          <a:xfrm>
            <a:off x="685800" y="2962656"/>
            <a:ext cx="4892040" cy="384048"/>
          </a:xfrm>
          <a:prstGeom prst="roundRect">
            <a:avLst>
              <a:gd name="adj" fmla="val 23529"/>
            </a:avLst>
          </a:prstGeom>
          <a:ln/>
        </p:spPr>
        <p:style>
          <a:lnRef idx="2">
            <a:schemeClr val="accent1">
              <a:shade val="15000"/>
            </a:schemeClr>
          </a:lnRef>
          <a:fillRef idx="1">
            <a:schemeClr val="accent1"/>
          </a:fillRef>
          <a:effectRef idx="0">
            <a:schemeClr val="accent1"/>
          </a:effectRef>
          <a:fontRef idx="minor">
            <a:schemeClr val="lt1"/>
          </a:fontRef>
        </p:style>
      </p:sp>
      <p:sp>
        <p:nvSpPr>
          <p:cNvPr id="8" name="Shape 6"/>
          <p:cNvSpPr/>
          <p:nvPr/>
        </p:nvSpPr>
        <p:spPr>
          <a:xfrm>
            <a:off x="685800" y="3364992"/>
            <a:ext cx="2971800" cy="310896"/>
          </a:xfrm>
          <a:prstGeom prst="roundRect">
            <a:avLst>
              <a:gd name="adj" fmla="val 23529"/>
            </a:avLst>
          </a:prstGeom>
          <a:solidFill>
            <a:srgbClr val="86EFAC">
              <a:alpha val="88000"/>
            </a:srgbClr>
          </a:solidFill>
          <a:ln w="10160">
            <a:solidFill>
              <a:srgbClr val="86EFAC">
                <a:alpha val="50000"/>
              </a:srgbClr>
            </a:solidFill>
            <a:prstDash val="solid"/>
          </a:ln>
        </p:spPr>
      </p:sp>
      <p:sp>
        <p:nvSpPr>
          <p:cNvPr id="9" name="Text 7"/>
          <p:cNvSpPr/>
          <p:nvPr/>
        </p:nvSpPr>
        <p:spPr>
          <a:xfrm>
            <a:off x="795528" y="3433572"/>
            <a:ext cx="2752344" cy="164592"/>
          </a:xfrm>
          <a:prstGeom prst="rect">
            <a:avLst/>
          </a:prstGeom>
          <a:noFill/>
          <a:ln/>
        </p:spPr>
        <p:txBody>
          <a:bodyPr wrap="square" lIns="0" tIns="0" rIns="0" bIns="0" rtlCol="0" anchor="ctr">
            <a:normAutofit/>
          </a:bodyPr>
          <a:lstStyle/>
          <a:p>
            <a:pPr algn="ctr"/>
            <a:r>
              <a:rPr lang="en-US" sz="800" b="1" dirty="0">
                <a:solidFill>
                  <a:srgbClr val="050814"/>
                </a:solidFill>
              </a:rPr>
              <a:t>Alessandro Maria Gullotti</a:t>
            </a:r>
            <a:endParaRPr lang="en-US" sz="820" dirty="0"/>
          </a:p>
        </p:txBody>
      </p:sp>
      <p:sp>
        <p:nvSpPr>
          <p:cNvPr id="10" name="Shape 8"/>
          <p:cNvSpPr/>
          <p:nvPr/>
        </p:nvSpPr>
        <p:spPr>
          <a:xfrm>
            <a:off x="685800" y="3767328"/>
            <a:ext cx="3429000" cy="310896"/>
          </a:xfrm>
          <a:prstGeom prst="roundRect">
            <a:avLst>
              <a:gd name="adj" fmla="val 23529"/>
            </a:avLst>
          </a:prstGeom>
          <a:solidFill>
            <a:srgbClr val="FCD34D">
              <a:alpha val="88000"/>
            </a:srgbClr>
          </a:solidFill>
          <a:ln w="10160">
            <a:solidFill>
              <a:srgbClr val="FCD34D">
                <a:alpha val="50000"/>
              </a:srgbClr>
            </a:solidFill>
            <a:prstDash val="solid"/>
          </a:ln>
        </p:spPr>
      </p:sp>
      <p:sp>
        <p:nvSpPr>
          <p:cNvPr id="11" name="Text 9"/>
          <p:cNvSpPr/>
          <p:nvPr/>
        </p:nvSpPr>
        <p:spPr>
          <a:xfrm>
            <a:off x="795528" y="3835908"/>
            <a:ext cx="3209544" cy="164592"/>
          </a:xfrm>
          <a:prstGeom prst="rect">
            <a:avLst/>
          </a:prstGeom>
          <a:noFill/>
          <a:ln/>
        </p:spPr>
        <p:txBody>
          <a:bodyPr wrap="square" lIns="0" tIns="0" rIns="0" bIns="0" rtlCol="0" anchor="ctr">
            <a:normAutofit/>
          </a:bodyPr>
          <a:lstStyle/>
          <a:p>
            <a:pPr algn="ctr"/>
            <a:r>
              <a:rPr sz="1000">
                <a:solidFill>
                  <a:srgbClr val="020817"/>
                </a:solidFill>
                <a:latin typeface="Arial"/>
              </a:rPr>
              <a:t>https://github.com/alessandrogullotti02/dl26-projects</a:t>
            </a:r>
          </a:p>
        </p:txBody>
      </p:sp>
      <p:sp>
        <p:nvSpPr>
          <p:cNvPr id="12" name="Shape 10"/>
          <p:cNvSpPr/>
          <p:nvPr/>
        </p:nvSpPr>
        <p:spPr>
          <a:xfrm>
            <a:off x="6430701" y="700075"/>
            <a:ext cx="4041648" cy="4846320"/>
          </a:xfrm>
          <a:prstGeom prst="rect">
            <a:avLst/>
          </a:prstGeom>
          <a:solidFill>
            <a:srgbClr val="081225"/>
          </a:solidFill>
          <a:ln w="17780">
            <a:solidFill>
              <a:srgbClr val="294064"/>
            </a:solidFill>
            <a:prstDash val="solid"/>
          </a:ln>
        </p:spPr>
      </p:sp>
      <p:sp>
        <p:nvSpPr>
          <p:cNvPr id="13" name="Shape 11"/>
          <p:cNvSpPr/>
          <p:nvPr/>
        </p:nvSpPr>
        <p:spPr>
          <a:xfrm>
            <a:off x="7278624" y="1005840"/>
            <a:ext cx="64008" cy="4389120"/>
          </a:xfrm>
          <a:prstGeom prst="rect">
            <a:avLst/>
          </a:prstGeom>
          <a:solidFill>
            <a:srgbClr val="203355"/>
          </a:solidFill>
          <a:ln w="12700">
            <a:solidFill>
              <a:srgbClr val="203355"/>
            </a:solidFill>
            <a:prstDash val="solid"/>
          </a:ln>
        </p:spPr>
      </p:sp>
      <p:sp>
        <p:nvSpPr>
          <p:cNvPr id="14" name="Shape 12"/>
          <p:cNvSpPr/>
          <p:nvPr/>
        </p:nvSpPr>
        <p:spPr>
          <a:xfrm>
            <a:off x="10881360" y="1005840"/>
            <a:ext cx="64008" cy="4389120"/>
          </a:xfrm>
          <a:prstGeom prst="rect">
            <a:avLst/>
          </a:prstGeom>
          <a:solidFill>
            <a:srgbClr val="203355"/>
          </a:solidFill>
          <a:ln w="12700">
            <a:solidFill>
              <a:srgbClr val="203355"/>
            </a:solidFill>
            <a:prstDash val="solid"/>
          </a:ln>
        </p:spPr>
      </p:sp>
      <p:sp>
        <p:nvSpPr>
          <p:cNvPr id="15" name="Shape 13"/>
          <p:cNvSpPr/>
          <p:nvPr/>
        </p:nvSpPr>
        <p:spPr>
          <a:xfrm>
            <a:off x="8878824" y="1051560"/>
            <a:ext cx="36576" cy="182880"/>
          </a:xfrm>
          <a:prstGeom prst="rect">
            <a:avLst/>
          </a:prstGeom>
          <a:solidFill>
            <a:srgbClr val="34506E"/>
          </a:solidFill>
          <a:ln w="12700">
            <a:solidFill>
              <a:srgbClr val="34506E"/>
            </a:solidFill>
            <a:prstDash val="solid"/>
          </a:ln>
        </p:spPr>
      </p:sp>
      <p:sp>
        <p:nvSpPr>
          <p:cNvPr id="16" name="Shape 14"/>
          <p:cNvSpPr/>
          <p:nvPr/>
        </p:nvSpPr>
        <p:spPr>
          <a:xfrm>
            <a:off x="8878824" y="1435608"/>
            <a:ext cx="36576" cy="182880"/>
          </a:xfrm>
          <a:prstGeom prst="rect">
            <a:avLst/>
          </a:prstGeom>
          <a:solidFill>
            <a:srgbClr val="34506E"/>
          </a:solidFill>
          <a:ln w="12700">
            <a:solidFill>
              <a:srgbClr val="34506E"/>
            </a:solidFill>
            <a:prstDash val="solid"/>
          </a:ln>
        </p:spPr>
      </p:sp>
      <p:sp>
        <p:nvSpPr>
          <p:cNvPr id="17" name="Shape 15"/>
          <p:cNvSpPr/>
          <p:nvPr/>
        </p:nvSpPr>
        <p:spPr>
          <a:xfrm>
            <a:off x="8878824" y="1819656"/>
            <a:ext cx="36576" cy="182880"/>
          </a:xfrm>
          <a:prstGeom prst="rect">
            <a:avLst/>
          </a:prstGeom>
          <a:solidFill>
            <a:srgbClr val="34506E"/>
          </a:solidFill>
          <a:ln w="12700">
            <a:solidFill>
              <a:srgbClr val="34506E"/>
            </a:solidFill>
            <a:prstDash val="solid"/>
          </a:ln>
        </p:spPr>
      </p:sp>
      <p:sp>
        <p:nvSpPr>
          <p:cNvPr id="18" name="Shape 16"/>
          <p:cNvSpPr/>
          <p:nvPr/>
        </p:nvSpPr>
        <p:spPr>
          <a:xfrm>
            <a:off x="8878824" y="2203704"/>
            <a:ext cx="36576" cy="182880"/>
          </a:xfrm>
          <a:prstGeom prst="rect">
            <a:avLst/>
          </a:prstGeom>
          <a:solidFill>
            <a:srgbClr val="34506E"/>
          </a:solidFill>
          <a:ln w="12700">
            <a:solidFill>
              <a:srgbClr val="34506E"/>
            </a:solidFill>
            <a:prstDash val="solid"/>
          </a:ln>
        </p:spPr>
      </p:sp>
      <p:sp>
        <p:nvSpPr>
          <p:cNvPr id="19" name="Shape 17"/>
          <p:cNvSpPr/>
          <p:nvPr/>
        </p:nvSpPr>
        <p:spPr>
          <a:xfrm>
            <a:off x="8878824" y="2587752"/>
            <a:ext cx="36576" cy="182880"/>
          </a:xfrm>
          <a:prstGeom prst="rect">
            <a:avLst/>
          </a:prstGeom>
          <a:solidFill>
            <a:srgbClr val="34506E"/>
          </a:solidFill>
          <a:ln w="12700">
            <a:solidFill>
              <a:srgbClr val="34506E"/>
            </a:solidFill>
            <a:prstDash val="solid"/>
          </a:ln>
        </p:spPr>
      </p:sp>
      <p:sp>
        <p:nvSpPr>
          <p:cNvPr id="20" name="Shape 18"/>
          <p:cNvSpPr/>
          <p:nvPr/>
        </p:nvSpPr>
        <p:spPr>
          <a:xfrm>
            <a:off x="8878824" y="2971800"/>
            <a:ext cx="36576" cy="182880"/>
          </a:xfrm>
          <a:prstGeom prst="rect">
            <a:avLst/>
          </a:prstGeom>
          <a:solidFill>
            <a:srgbClr val="34506E"/>
          </a:solidFill>
          <a:ln w="12700">
            <a:solidFill>
              <a:srgbClr val="34506E"/>
            </a:solidFill>
            <a:prstDash val="solid"/>
          </a:ln>
        </p:spPr>
      </p:sp>
      <p:sp>
        <p:nvSpPr>
          <p:cNvPr id="21" name="Shape 19"/>
          <p:cNvSpPr/>
          <p:nvPr/>
        </p:nvSpPr>
        <p:spPr>
          <a:xfrm>
            <a:off x="8878824" y="3355848"/>
            <a:ext cx="36576" cy="182880"/>
          </a:xfrm>
          <a:prstGeom prst="rect">
            <a:avLst/>
          </a:prstGeom>
          <a:solidFill>
            <a:srgbClr val="34506E"/>
          </a:solidFill>
          <a:ln w="12700">
            <a:solidFill>
              <a:srgbClr val="34506E"/>
            </a:solidFill>
            <a:prstDash val="solid"/>
          </a:ln>
        </p:spPr>
      </p:sp>
      <p:sp>
        <p:nvSpPr>
          <p:cNvPr id="22" name="Shape 20"/>
          <p:cNvSpPr/>
          <p:nvPr/>
        </p:nvSpPr>
        <p:spPr>
          <a:xfrm>
            <a:off x="8878824" y="3739896"/>
            <a:ext cx="36576" cy="182880"/>
          </a:xfrm>
          <a:prstGeom prst="rect">
            <a:avLst/>
          </a:prstGeom>
          <a:solidFill>
            <a:srgbClr val="34506E"/>
          </a:solidFill>
          <a:ln w="12700">
            <a:solidFill>
              <a:srgbClr val="34506E"/>
            </a:solidFill>
            <a:prstDash val="solid"/>
          </a:ln>
        </p:spPr>
      </p:sp>
      <p:sp>
        <p:nvSpPr>
          <p:cNvPr id="23" name="Shape 21"/>
          <p:cNvSpPr/>
          <p:nvPr/>
        </p:nvSpPr>
        <p:spPr>
          <a:xfrm>
            <a:off x="8878824" y="4123944"/>
            <a:ext cx="36576" cy="182880"/>
          </a:xfrm>
          <a:prstGeom prst="rect">
            <a:avLst/>
          </a:prstGeom>
          <a:solidFill>
            <a:srgbClr val="34506E"/>
          </a:solidFill>
          <a:ln w="12700">
            <a:solidFill>
              <a:srgbClr val="34506E"/>
            </a:solidFill>
            <a:prstDash val="solid"/>
          </a:ln>
        </p:spPr>
      </p:sp>
      <p:sp>
        <p:nvSpPr>
          <p:cNvPr id="24" name="Shape 22"/>
          <p:cNvSpPr/>
          <p:nvPr/>
        </p:nvSpPr>
        <p:spPr>
          <a:xfrm>
            <a:off x="8878824" y="4507992"/>
            <a:ext cx="36576" cy="182880"/>
          </a:xfrm>
          <a:prstGeom prst="rect">
            <a:avLst/>
          </a:prstGeom>
          <a:solidFill>
            <a:srgbClr val="34506E"/>
          </a:solidFill>
          <a:ln w="12700">
            <a:solidFill>
              <a:srgbClr val="34506E"/>
            </a:solidFill>
            <a:prstDash val="solid"/>
          </a:ln>
        </p:spPr>
      </p:sp>
      <p:sp>
        <p:nvSpPr>
          <p:cNvPr id="25" name="Shape 23"/>
          <p:cNvSpPr/>
          <p:nvPr/>
        </p:nvSpPr>
        <p:spPr>
          <a:xfrm>
            <a:off x="8878824" y="4892040"/>
            <a:ext cx="36576" cy="182880"/>
          </a:xfrm>
          <a:prstGeom prst="rect">
            <a:avLst/>
          </a:prstGeom>
          <a:solidFill>
            <a:srgbClr val="34506E"/>
          </a:solidFill>
          <a:ln w="12700">
            <a:solidFill>
              <a:srgbClr val="34506E"/>
            </a:solidFill>
            <a:prstDash val="solid"/>
          </a:ln>
        </p:spPr>
      </p:sp>
      <p:sp>
        <p:nvSpPr>
          <p:cNvPr id="26" name="Shape 24"/>
          <p:cNvSpPr/>
          <p:nvPr/>
        </p:nvSpPr>
        <p:spPr>
          <a:xfrm>
            <a:off x="8878824" y="5276088"/>
            <a:ext cx="36576" cy="182880"/>
          </a:xfrm>
          <a:prstGeom prst="rect">
            <a:avLst/>
          </a:prstGeom>
          <a:solidFill>
            <a:srgbClr val="34506E"/>
          </a:solidFill>
          <a:ln w="12700">
            <a:solidFill>
              <a:srgbClr val="34506E"/>
            </a:solidFill>
            <a:prstDash val="solid"/>
          </a:ln>
        </p:spPr>
      </p:sp>
      <p:sp>
        <p:nvSpPr>
          <p:cNvPr id="27" name="Shape 25"/>
          <p:cNvSpPr/>
          <p:nvPr/>
        </p:nvSpPr>
        <p:spPr>
          <a:xfrm>
            <a:off x="7498080" y="2743200"/>
            <a:ext cx="100584" cy="841248"/>
          </a:xfrm>
          <a:prstGeom prst="rect">
            <a:avLst/>
          </a:prstGeom>
          <a:solidFill>
            <a:srgbClr val="7DD3FC"/>
          </a:solidFill>
          <a:ln w="12700">
            <a:solidFill>
              <a:srgbClr val="7DD3FC"/>
            </a:solidFill>
            <a:prstDash val="solid"/>
          </a:ln>
        </p:spPr>
      </p:sp>
      <p:sp>
        <p:nvSpPr>
          <p:cNvPr id="28" name="Shape 26"/>
          <p:cNvSpPr/>
          <p:nvPr/>
        </p:nvSpPr>
        <p:spPr>
          <a:xfrm>
            <a:off x="10561320" y="2029968"/>
            <a:ext cx="100584" cy="841248"/>
          </a:xfrm>
          <a:prstGeom prst="rect">
            <a:avLst/>
          </a:prstGeom>
          <a:solidFill>
            <a:srgbClr val="FDA4AF"/>
          </a:solidFill>
          <a:ln w="12700">
            <a:solidFill>
              <a:srgbClr val="FDA4AF"/>
            </a:solidFill>
            <a:prstDash val="solid"/>
          </a:ln>
        </p:spPr>
      </p:sp>
      <p:sp>
        <p:nvSpPr>
          <p:cNvPr id="29" name="Shape 27"/>
          <p:cNvSpPr/>
          <p:nvPr/>
        </p:nvSpPr>
        <p:spPr>
          <a:xfrm>
            <a:off x="9162288" y="2670048"/>
            <a:ext cx="146304" cy="146304"/>
          </a:xfrm>
          <a:prstGeom prst="ellipse">
            <a:avLst/>
          </a:prstGeom>
          <a:solidFill>
            <a:srgbClr val="FFFFFF"/>
          </a:solidFill>
          <a:ln w="12700">
            <a:solidFill>
              <a:srgbClr val="FFFFFF"/>
            </a:solidFill>
            <a:prstDash val="solid"/>
          </a:ln>
        </p:spPr>
      </p:sp>
      <p:sp>
        <p:nvSpPr>
          <p:cNvPr id="30" name="Shape 28"/>
          <p:cNvSpPr/>
          <p:nvPr/>
        </p:nvSpPr>
        <p:spPr>
          <a:xfrm>
            <a:off x="9400032" y="2743200"/>
            <a:ext cx="749808" cy="0"/>
          </a:xfrm>
          <a:prstGeom prst="line">
            <a:avLst/>
          </a:prstGeom>
          <a:noFill/>
          <a:ln w="12700">
            <a:solidFill>
              <a:srgbClr val="FFFFFF">
                <a:alpha val="55000"/>
              </a:srgbClr>
            </a:solidFill>
            <a:prstDash val="solid"/>
          </a:ln>
        </p:spPr>
      </p:sp>
      <p:sp>
        <p:nvSpPr>
          <p:cNvPr id="31" name="Text 29"/>
          <p:cNvSpPr/>
          <p:nvPr/>
        </p:nvSpPr>
        <p:spPr>
          <a:xfrm>
            <a:off x="7315200" y="5779008"/>
            <a:ext cx="3017520" cy="256032"/>
          </a:xfrm>
          <a:prstGeom prst="rect">
            <a:avLst/>
          </a:prstGeom>
          <a:noFill/>
          <a:ln/>
        </p:spPr>
        <p:txBody>
          <a:bodyPr wrap="square" lIns="0" tIns="0" rIns="0" bIns="0" rtlCol="0" anchor="ctr"/>
          <a:lstStyle/>
          <a:p>
            <a:pPr marL="0" indent="0" algn="ctr">
              <a:buNone/>
            </a:pPr>
            <a:r>
              <a:rPr lang="en-US" sz="1200" dirty="0">
                <a:solidFill>
                  <a:srgbClr val="94A3B8"/>
                </a:solidFill>
              </a:rPr>
              <a:t>policy da pixel → azione</a:t>
            </a:r>
            <a:endParaRPr lang="en-US" sz="1200" dirty="0"/>
          </a:p>
        </p:txBody>
      </p:sp>
      <p:sp>
        <p:nvSpPr>
          <p:cNvPr id="33"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E7897"/>
                </a:solidFill>
              </a:defRPr>
            </a:lvl1pPr>
          </a:lstStyle>
          <a:p>
            <a:pPr algn="l"/>
            <a:fld id="{F7021451-1387-4CA6-816F-3879F97B5CBC}" type="slidenum">
              <a:rPr lang="en-US" b="0"/>
              <a:t>1</a:t>
            </a:fld>
            <a:endParaRPr lang="en-US"/>
          </a:p>
        </p:txBody>
      </p:sp>
      <p:sp>
        <p:nvSpPr>
          <p:cNvPr id="35" name="CasellaDiTesto 34">
            <a:extLst>
              <a:ext uri="{FF2B5EF4-FFF2-40B4-BE49-F238E27FC236}">
                <a16:creationId xmlns:a16="http://schemas.microsoft.com/office/drawing/2014/main" id="{A8148C98-D17E-4629-1184-15F2B328405E}"/>
              </a:ext>
            </a:extLst>
          </p:cNvPr>
          <p:cNvSpPr txBox="1"/>
          <p:nvPr/>
        </p:nvSpPr>
        <p:spPr>
          <a:xfrm>
            <a:off x="758952" y="3008376"/>
            <a:ext cx="4736592" cy="384048"/>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ctr"/>
            <a:r>
              <a:rPr sz="1050" b="0">
                <a:solidFill>
                  <a:srgbClr val="020817"/>
                </a:solidFill>
                <a:latin typeface="Arial"/>
              </a:rPr>
              <a:t>Track 34: Learn to Play Atari Pong with Deep Reinforcement Learning</a:t>
            </a:r>
            <a:endParaRPr lang="it-IT"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a:effectLst/>
      </p:bgPr>
    </p:bg>
    <p:spTree>
      <p:nvGrpSpPr>
        <p:cNvPr id="1" name=""/>
        <p:cNvGrpSpPr/>
        <p:nvPr/>
      </p:nvGrpSpPr>
      <p:grpSpPr>
        <a:xfrm>
          <a:off x="0" y="0"/>
          <a:ext cx="0" cy="0"/>
          <a:chOff x="0" y="0"/>
          <a:chExt cx="0" cy="0"/>
        </a:xfrm>
      </p:grpSpPr>
      <p:sp>
        <p:nvSpPr>
          <p:cNvPr id="3" name="Text 1"/>
          <p:cNvSpPr/>
          <p:nvPr/>
        </p:nvSpPr>
        <p:spPr>
          <a:xfrm>
            <a:off x="658368" y="566928"/>
            <a:ext cx="10835640" cy="530352"/>
          </a:xfrm>
          <a:prstGeom prst="rect">
            <a:avLst/>
          </a:prstGeom>
          <a:noFill/>
          <a:ln/>
        </p:spPr>
        <p:txBody>
          <a:bodyPr wrap="square" lIns="0" tIns="0" rIns="0" bIns="0" rtlCol="0" anchor="ctr">
            <a:normAutofit/>
          </a:bodyPr>
          <a:lstStyle/>
          <a:p>
            <a:pPr marL="0" indent="0">
              <a:buNone/>
            </a:pPr>
            <a:r>
              <a:rPr lang="en-US" sz="2500" b="1" dirty="0">
                <a:solidFill>
                  <a:srgbClr val="F8FAFC"/>
                </a:solidFill>
                <a:latin typeface="Aptos Display" pitchFamily="34" charset="0"/>
                <a:ea typeface="Aptos Display" pitchFamily="34" charset="-122"/>
                <a:cs typeface="Aptos Display" pitchFamily="34" charset="-120"/>
              </a:rPr>
              <a:t>Il problema: imparare una policy con reward sparso</a:t>
            </a:r>
            <a:endParaRPr lang="en-US" sz="2500" dirty="0"/>
          </a:p>
        </p:txBody>
      </p:sp>
      <p:sp>
        <p:nvSpPr>
          <p:cNvPr id="4" name="Text 2"/>
          <p:cNvSpPr/>
          <p:nvPr/>
        </p:nvSpPr>
        <p:spPr>
          <a:xfrm>
            <a:off x="685800" y="1170432"/>
            <a:ext cx="6400800" cy="310896"/>
          </a:xfrm>
          <a:prstGeom prst="rect">
            <a:avLst/>
          </a:prstGeom>
          <a:noFill/>
          <a:ln/>
        </p:spPr>
        <p:txBody>
          <a:bodyPr wrap="square" lIns="0" tIns="0" rIns="0" bIns="0" rtlCol="0" anchor="ctr"/>
          <a:lstStyle/>
          <a:p>
            <a:pPr marL="0" indent="0">
              <a:buNone/>
            </a:pPr>
            <a:endParaRPr lang="en-US" sz="1700" b="1" dirty="0">
              <a:solidFill>
                <a:srgbClr val="DCE4F2"/>
              </a:solidFill>
            </a:endParaRPr>
          </a:p>
        </p:txBody>
      </p:sp>
      <p:sp>
        <p:nvSpPr>
          <p:cNvPr id="6" name="Shape 4"/>
          <p:cNvSpPr/>
          <p:nvPr/>
        </p:nvSpPr>
        <p:spPr>
          <a:xfrm>
            <a:off x="786384" y="2304288"/>
            <a:ext cx="2103120" cy="987552"/>
          </a:xfrm>
          <a:prstGeom prst="roundRect">
            <a:avLst>
              <a:gd name="adj" fmla="val 9259"/>
            </a:avLst>
          </a:prstGeom>
          <a:solidFill>
            <a:srgbClr val="101A38"/>
          </a:solidFill>
          <a:ln w="12700">
            <a:solidFill>
              <a:srgbClr val="7DD3FC"/>
            </a:solidFill>
            <a:prstDash val="solid"/>
          </a:ln>
        </p:spPr>
      </p:sp>
      <p:sp>
        <p:nvSpPr>
          <p:cNvPr id="7" name="Text 5"/>
          <p:cNvSpPr/>
          <p:nvPr/>
        </p:nvSpPr>
        <p:spPr>
          <a:xfrm>
            <a:off x="941832" y="2542032"/>
            <a:ext cx="1792224" cy="493776"/>
          </a:xfrm>
          <a:prstGeom prst="rect">
            <a:avLst/>
          </a:prstGeom>
          <a:noFill/>
          <a:ln/>
        </p:spPr>
        <p:txBody>
          <a:bodyPr wrap="square" lIns="0" tIns="0" rIns="0" bIns="0" rtlCol="0" anchor="ctr"/>
          <a:lstStyle/>
          <a:p>
            <a:pPr marL="0" indent="0" algn="ctr">
              <a:buNone/>
            </a:pPr>
            <a:r>
              <a:rPr lang="en-US" sz="1600" b="1" dirty="0">
                <a:solidFill>
                  <a:srgbClr val="F8FAFC"/>
                </a:solidFill>
              </a:rPr>
              <a:t>Ambiente</a:t>
            </a:r>
            <a:endParaRPr lang="en-US" sz="1600" dirty="0"/>
          </a:p>
          <a:p>
            <a:pPr marL="0" indent="0" algn="ctr">
              <a:buNone/>
            </a:pPr>
            <a:r>
              <a:rPr lang="en-US" sz="1600" b="1" dirty="0">
                <a:solidFill>
                  <a:srgbClr val="F8FAFC"/>
                </a:solidFill>
              </a:rPr>
              <a:t>ALE/Pong-v5</a:t>
            </a:r>
            <a:endParaRPr lang="en-US" sz="1600" dirty="0"/>
          </a:p>
        </p:txBody>
      </p:sp>
      <p:sp>
        <p:nvSpPr>
          <p:cNvPr id="8" name="Shape 6"/>
          <p:cNvSpPr/>
          <p:nvPr/>
        </p:nvSpPr>
        <p:spPr>
          <a:xfrm>
            <a:off x="4572000" y="2304288"/>
            <a:ext cx="2103120" cy="987552"/>
          </a:xfrm>
          <a:prstGeom prst="roundRect">
            <a:avLst>
              <a:gd name="adj" fmla="val 9259"/>
            </a:avLst>
          </a:prstGeom>
          <a:solidFill>
            <a:srgbClr val="101A38"/>
          </a:solidFill>
          <a:ln w="12700">
            <a:solidFill>
              <a:srgbClr val="86EFAC"/>
            </a:solidFill>
            <a:prstDash val="solid"/>
          </a:ln>
        </p:spPr>
      </p:sp>
      <p:sp>
        <p:nvSpPr>
          <p:cNvPr id="9" name="Text 7"/>
          <p:cNvSpPr/>
          <p:nvPr/>
        </p:nvSpPr>
        <p:spPr>
          <a:xfrm>
            <a:off x="4727448" y="2542032"/>
            <a:ext cx="1792224" cy="493776"/>
          </a:xfrm>
          <a:prstGeom prst="rect">
            <a:avLst/>
          </a:prstGeom>
          <a:noFill/>
          <a:ln/>
        </p:spPr>
        <p:txBody>
          <a:bodyPr wrap="square" lIns="0" tIns="0" rIns="0" bIns="0" rtlCol="0" anchor="ctr"/>
          <a:lstStyle/>
          <a:p>
            <a:pPr marL="0" indent="0" algn="ctr">
              <a:buNone/>
            </a:pPr>
            <a:r>
              <a:rPr lang="en-US" sz="1600" b="1" dirty="0">
                <a:solidFill>
                  <a:srgbClr val="F8FAFC"/>
                </a:solidFill>
              </a:rPr>
              <a:t>Agente</a:t>
            </a:r>
            <a:endParaRPr lang="en-US" sz="1600" dirty="0"/>
          </a:p>
          <a:p>
            <a:pPr marL="0" indent="0" algn="ctr">
              <a:buNone/>
            </a:pPr>
            <a:r>
              <a:rPr lang="en-US" sz="1600" b="1" dirty="0">
                <a:solidFill>
                  <a:srgbClr val="F8FAFC"/>
                </a:solidFill>
              </a:rPr>
              <a:t>DQN</a:t>
            </a:r>
            <a:endParaRPr lang="en-US" sz="1600" dirty="0"/>
          </a:p>
        </p:txBody>
      </p:sp>
      <p:sp>
        <p:nvSpPr>
          <p:cNvPr id="10" name="Shape 8"/>
          <p:cNvSpPr/>
          <p:nvPr/>
        </p:nvSpPr>
        <p:spPr>
          <a:xfrm>
            <a:off x="2578608" y="4096512"/>
            <a:ext cx="2304288" cy="969264"/>
          </a:xfrm>
          <a:prstGeom prst="roundRect">
            <a:avLst>
              <a:gd name="adj" fmla="val 9434"/>
            </a:avLst>
          </a:prstGeom>
          <a:solidFill>
            <a:srgbClr val="101A38"/>
          </a:solidFill>
          <a:ln w="12700">
            <a:solidFill>
              <a:srgbClr val="A78BFA"/>
            </a:solidFill>
            <a:prstDash val="solid"/>
          </a:ln>
        </p:spPr>
      </p:sp>
      <p:sp>
        <p:nvSpPr>
          <p:cNvPr id="11" name="Text 9"/>
          <p:cNvSpPr/>
          <p:nvPr/>
        </p:nvSpPr>
        <p:spPr>
          <a:xfrm>
            <a:off x="2743200" y="4306824"/>
            <a:ext cx="1975104" cy="512064"/>
          </a:xfrm>
          <a:prstGeom prst="rect">
            <a:avLst/>
          </a:prstGeom>
          <a:noFill/>
          <a:ln/>
        </p:spPr>
        <p:txBody>
          <a:bodyPr wrap="square" lIns="0" tIns="0" rIns="0" bIns="0" rtlCol="0" anchor="ctr"/>
          <a:lstStyle/>
          <a:p>
            <a:pPr marL="0" indent="0" algn="ctr">
              <a:buNone/>
            </a:pPr>
            <a:r>
              <a:rPr lang="en-US" sz="1500" b="1" dirty="0">
                <a:solidFill>
                  <a:srgbClr val="F8FAFC"/>
                </a:solidFill>
              </a:rPr>
              <a:t>Replay buffer</a:t>
            </a:r>
            <a:endParaRPr lang="en-US" sz="1500" dirty="0"/>
          </a:p>
          <a:p>
            <a:pPr marL="0" indent="0" algn="ctr">
              <a:buNone/>
            </a:pPr>
            <a:r>
              <a:rPr lang="en-US" sz="1500" b="1" dirty="0">
                <a:solidFill>
                  <a:srgbClr val="F8FAFC"/>
                </a:solidFill>
              </a:rPr>
              <a:t>minibatch</a:t>
            </a:r>
            <a:endParaRPr lang="en-US" sz="1500" dirty="0"/>
          </a:p>
        </p:txBody>
      </p:sp>
      <p:sp>
        <p:nvSpPr>
          <p:cNvPr id="18" name="Text 16"/>
          <p:cNvSpPr/>
          <p:nvPr/>
        </p:nvSpPr>
        <p:spPr>
          <a:xfrm>
            <a:off x="7571232" y="2267712"/>
            <a:ext cx="2743200" cy="182880"/>
          </a:xfrm>
          <a:prstGeom prst="rect">
            <a:avLst/>
          </a:prstGeom>
          <a:noFill/>
          <a:ln/>
        </p:spPr>
        <p:txBody>
          <a:bodyPr wrap="square" lIns="0" tIns="0" rIns="0" bIns="0" rtlCol="0" anchor="ctr">
            <a:normAutofit/>
          </a:bodyPr>
          <a:lstStyle/>
          <a:p>
            <a:pPr marL="0" indent="0">
              <a:buNone/>
            </a:pPr>
            <a:r>
              <a:rPr lang="en-US" sz="750" b="1" dirty="0">
                <a:solidFill>
                  <a:srgbClr val="7DD3FC"/>
                </a:solidFill>
              </a:rPr>
              <a:t>REWARD ATARI ORIGINALE</a:t>
            </a:r>
            <a:endParaRPr lang="en-US" sz="750" dirty="0"/>
          </a:p>
        </p:txBody>
      </p:sp>
      <p:sp>
        <p:nvSpPr>
          <p:cNvPr id="19" name="Shape 17"/>
          <p:cNvSpPr/>
          <p:nvPr/>
        </p:nvSpPr>
        <p:spPr>
          <a:xfrm>
            <a:off x="7543800" y="2542032"/>
            <a:ext cx="3401568" cy="1298448"/>
          </a:xfrm>
          <a:prstGeom prst="roundRect">
            <a:avLst>
              <a:gd name="adj" fmla="val 7042"/>
            </a:avLst>
          </a:prstGeom>
          <a:solidFill>
            <a:srgbClr val="0E1631"/>
          </a:solidFill>
          <a:ln w="12700">
            <a:solidFill>
              <a:srgbClr val="7DD3FC">
                <a:alpha val="60000"/>
              </a:srgbClr>
            </a:solidFill>
            <a:prstDash val="solid"/>
          </a:ln>
        </p:spPr>
      </p:sp>
      <p:sp>
        <p:nvSpPr>
          <p:cNvPr id="20" name="Text 18"/>
          <p:cNvSpPr/>
          <p:nvPr/>
        </p:nvSpPr>
        <p:spPr>
          <a:xfrm>
            <a:off x="7708392" y="2688336"/>
            <a:ext cx="3072384" cy="1005840"/>
          </a:xfrm>
          <a:prstGeom prst="rect">
            <a:avLst/>
          </a:prstGeom>
          <a:noFill/>
          <a:ln/>
        </p:spPr>
        <p:txBody>
          <a:bodyPr wrap="square" lIns="0" tIns="0" rIns="0" bIns="0" rtlCol="0" anchor="ctr">
            <a:normAutofit/>
          </a:bodyPr>
          <a:lstStyle/>
          <a:p>
            <a:pPr marL="0" indent="0">
              <a:buNone/>
            </a:pPr>
            <a:r>
              <a:rPr lang="en-US" sz="1250" dirty="0">
                <a:solidFill>
                  <a:srgbClr val="F8FAFC"/>
                </a:solidFill>
                <a:latin typeface="Aptos Mono" pitchFamily="34" charset="0"/>
                <a:ea typeface="Aptos Mono" pitchFamily="34" charset="-122"/>
                <a:cs typeface="Aptos Mono" pitchFamily="34" charset="-120"/>
              </a:rPr>
              <a:t>r_t = +1  se punto vinto</a:t>
            </a:r>
            <a:endParaRPr lang="en-US" sz="1250" dirty="0"/>
          </a:p>
          <a:p>
            <a:pPr marL="0" indent="0">
              <a:buNone/>
            </a:pPr>
            <a:r>
              <a:rPr lang="en-US" sz="1250" dirty="0">
                <a:solidFill>
                  <a:srgbClr val="F8FAFC"/>
                </a:solidFill>
                <a:latin typeface="Aptos Mono" pitchFamily="34" charset="0"/>
                <a:ea typeface="Aptos Mono" pitchFamily="34" charset="-122"/>
                <a:cs typeface="Aptos Mono" pitchFamily="34" charset="-120"/>
              </a:rPr>
              <a:t>r_t = -1  se punto perso</a:t>
            </a:r>
            <a:endParaRPr lang="en-US" sz="1250" dirty="0"/>
          </a:p>
          <a:p>
            <a:pPr marL="0" indent="0">
              <a:buNone/>
            </a:pPr>
            <a:r>
              <a:rPr lang="en-US" sz="1250" dirty="0">
                <a:solidFill>
                  <a:srgbClr val="F8FAFC"/>
                </a:solidFill>
                <a:latin typeface="Aptos Mono" pitchFamily="34" charset="0"/>
                <a:ea typeface="Aptos Mono" pitchFamily="34" charset="-122"/>
                <a:cs typeface="Aptos Mono" pitchFamily="34" charset="-120"/>
              </a:rPr>
              <a:t>r_t =  0  altrimenti</a:t>
            </a:r>
            <a:endParaRPr lang="en-US" sz="1250" dirty="0"/>
          </a:p>
        </p:txBody>
      </p:sp>
      <p:sp>
        <p:nvSpPr>
          <p:cNvPr id="21" name="Text 19"/>
          <p:cNvSpPr/>
          <p:nvPr/>
        </p:nvSpPr>
        <p:spPr>
          <a:xfrm>
            <a:off x="7708392" y="3520440"/>
            <a:ext cx="3072384" cy="164592"/>
          </a:xfrm>
          <a:prstGeom prst="rect">
            <a:avLst/>
          </a:prstGeom>
          <a:noFill/>
          <a:ln/>
        </p:spPr>
        <p:txBody>
          <a:bodyPr wrap="square" lIns="0" tIns="0" rIns="0" bIns="0" rtlCol="0" anchor="ctr">
            <a:normAutofit/>
          </a:bodyPr>
          <a:lstStyle/>
          <a:p>
            <a:pPr marL="0" indent="0">
              <a:buNone/>
            </a:pPr>
            <a:r>
              <a:rPr lang="en-US" sz="720" dirty="0">
                <a:solidFill>
                  <a:srgbClr val="94A3B8"/>
                </a:solidFill>
              </a:rPr>
              <a:t>la maggior parte degli step ha reward 0</a:t>
            </a:r>
            <a:endParaRPr lang="en-US" sz="720" dirty="0"/>
          </a:p>
        </p:txBody>
      </p:sp>
      <p:sp>
        <p:nvSpPr>
          <p:cNvPr id="22" name="Text 20"/>
          <p:cNvSpPr/>
          <p:nvPr/>
        </p:nvSpPr>
        <p:spPr>
          <a:xfrm>
            <a:off x="7543800" y="4279392"/>
            <a:ext cx="1188720" cy="411480"/>
          </a:xfrm>
          <a:prstGeom prst="rect">
            <a:avLst/>
          </a:prstGeom>
          <a:noFill/>
          <a:ln/>
        </p:spPr>
        <p:txBody>
          <a:bodyPr wrap="square" lIns="0" tIns="0" rIns="0" bIns="0" rtlCol="0" anchor="ctr">
            <a:normAutofit/>
          </a:bodyPr>
          <a:lstStyle/>
          <a:p>
            <a:pPr marL="0" indent="0">
              <a:buNone/>
            </a:pPr>
            <a:r>
              <a:rPr lang="en-US" sz="2400" b="1" dirty="0">
                <a:solidFill>
                  <a:srgbClr val="7DD3FC"/>
                </a:solidFill>
              </a:rPr>
              <a:t>1.8M</a:t>
            </a:r>
            <a:endParaRPr lang="en-US" sz="2400" dirty="0"/>
          </a:p>
        </p:txBody>
      </p:sp>
      <p:sp>
        <p:nvSpPr>
          <p:cNvPr id="23" name="Text 21"/>
          <p:cNvSpPr/>
          <p:nvPr/>
        </p:nvSpPr>
        <p:spPr>
          <a:xfrm>
            <a:off x="7543800" y="4718304"/>
            <a:ext cx="1188720" cy="292608"/>
          </a:xfrm>
          <a:prstGeom prst="rect">
            <a:avLst/>
          </a:prstGeom>
          <a:noFill/>
          <a:ln/>
        </p:spPr>
        <p:txBody>
          <a:bodyPr wrap="square" lIns="0" tIns="0" rIns="0" bIns="0" rtlCol="0" anchor="ctr">
            <a:normAutofit/>
          </a:bodyPr>
          <a:lstStyle/>
          <a:p>
            <a:pPr marL="0" indent="0">
              <a:buNone/>
            </a:pPr>
            <a:r>
              <a:rPr lang="en-US" sz="900" dirty="0">
                <a:solidFill>
                  <a:srgbClr val="DCE4F2"/>
                </a:solidFill>
              </a:rPr>
              <a:t>step per run</a:t>
            </a:r>
            <a:endParaRPr lang="en-US" sz="900" dirty="0"/>
          </a:p>
        </p:txBody>
      </p:sp>
      <p:sp>
        <p:nvSpPr>
          <p:cNvPr id="24" name="Text 22"/>
          <p:cNvSpPr/>
          <p:nvPr/>
        </p:nvSpPr>
        <p:spPr>
          <a:xfrm>
            <a:off x="9253728" y="4279392"/>
            <a:ext cx="1143000" cy="411480"/>
          </a:xfrm>
          <a:prstGeom prst="rect">
            <a:avLst/>
          </a:prstGeom>
          <a:noFill/>
          <a:ln/>
        </p:spPr>
        <p:txBody>
          <a:bodyPr wrap="square" lIns="0" tIns="0" rIns="0" bIns="0" rtlCol="0" anchor="ctr">
            <a:normAutofit/>
          </a:bodyPr>
          <a:lstStyle/>
          <a:p>
            <a:pPr marL="0" indent="0">
              <a:buNone/>
            </a:pPr>
            <a:r>
              <a:rPr lang="en-US" sz="2400" b="1" dirty="0">
                <a:solidFill>
                  <a:srgbClr val="86EFAC"/>
                </a:solidFill>
              </a:rPr>
              <a:t>20</a:t>
            </a:r>
            <a:endParaRPr lang="en-US" sz="2400" dirty="0"/>
          </a:p>
        </p:txBody>
      </p:sp>
      <p:sp>
        <p:nvSpPr>
          <p:cNvPr id="25" name="Text 23"/>
          <p:cNvSpPr/>
          <p:nvPr/>
        </p:nvSpPr>
        <p:spPr>
          <a:xfrm>
            <a:off x="9253728" y="4718304"/>
            <a:ext cx="1143000" cy="292608"/>
          </a:xfrm>
          <a:prstGeom prst="rect">
            <a:avLst/>
          </a:prstGeom>
          <a:noFill/>
          <a:ln/>
        </p:spPr>
        <p:txBody>
          <a:bodyPr wrap="square" lIns="0" tIns="0" rIns="0" bIns="0" rtlCol="0" anchor="ctr">
            <a:normAutofit/>
          </a:bodyPr>
          <a:lstStyle/>
          <a:p>
            <a:pPr marL="0" indent="0">
              <a:buNone/>
            </a:pPr>
            <a:r>
              <a:rPr lang="en-US" sz="920" dirty="0">
                <a:solidFill>
                  <a:srgbClr val="DCE4F2"/>
                </a:solidFill>
              </a:rPr>
              <a:t>episodi greedy/checkpoint</a:t>
            </a:r>
            <a:endParaRPr lang="en-US" sz="920" dirty="0"/>
          </a:p>
        </p:txBody>
      </p:sp>
      <p:sp>
        <p:nvSpPr>
          <p:cNvPr id="26" name="Text 24"/>
          <p:cNvSpPr/>
          <p:nvPr/>
        </p:nvSpPr>
        <p:spPr>
          <a:xfrm>
            <a:off x="10442448" y="4279392"/>
            <a:ext cx="822960" cy="411480"/>
          </a:xfrm>
          <a:prstGeom prst="rect">
            <a:avLst/>
          </a:prstGeom>
          <a:noFill/>
          <a:ln/>
        </p:spPr>
        <p:txBody>
          <a:bodyPr wrap="square" lIns="0" tIns="0" rIns="0" bIns="0" rtlCol="0" anchor="ctr">
            <a:normAutofit/>
          </a:bodyPr>
          <a:lstStyle/>
          <a:p>
            <a:pPr marL="0" indent="0">
              <a:buNone/>
            </a:pPr>
            <a:r>
              <a:rPr lang="en-US" sz="2400" b="1" dirty="0">
                <a:solidFill>
                  <a:srgbClr val="FCD34D"/>
                </a:solidFill>
              </a:rPr>
              <a:t>3</a:t>
            </a:r>
            <a:endParaRPr lang="en-US" sz="2400" dirty="0"/>
          </a:p>
        </p:txBody>
      </p:sp>
      <p:sp>
        <p:nvSpPr>
          <p:cNvPr id="27" name="Text 25"/>
          <p:cNvSpPr/>
          <p:nvPr/>
        </p:nvSpPr>
        <p:spPr>
          <a:xfrm>
            <a:off x="10442448" y="4718304"/>
            <a:ext cx="822960" cy="292608"/>
          </a:xfrm>
          <a:prstGeom prst="rect">
            <a:avLst/>
          </a:prstGeom>
          <a:noFill/>
          <a:ln/>
        </p:spPr>
        <p:txBody>
          <a:bodyPr wrap="square" lIns="0" tIns="0" rIns="0" bIns="0" rtlCol="0" anchor="ctr">
            <a:normAutofit/>
          </a:bodyPr>
          <a:lstStyle/>
          <a:p>
            <a:pPr marL="0" indent="0">
              <a:buNone/>
            </a:pPr>
            <a:r>
              <a:rPr lang="en-US" sz="920" dirty="0">
                <a:solidFill>
                  <a:srgbClr val="DCE4F2"/>
                </a:solidFill>
              </a:rPr>
              <a:t>seed primari</a:t>
            </a:r>
            <a:endParaRPr lang="en-US" sz="920" dirty="0"/>
          </a:p>
        </p:txBody>
      </p:sp>
      <p:sp>
        <p:nvSpPr>
          <p:cNvPr id="30"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E7897"/>
                </a:solidFill>
              </a:defRPr>
            </a:lvl1pPr>
          </a:lstStyle>
          <a:p>
            <a:pPr algn="l"/>
            <a:fld id="{F7021451-1387-4CA6-816F-3879F97B5CBC}" type="slidenum">
              <a:rPr lang="en-US" b="0"/>
              <a:t>2</a:t>
            </a:fld>
            <a:endParaRPr lang="en-US"/>
          </a:p>
        </p:txBody>
      </p:sp>
      <p:cxnSp>
        <p:nvCxnSpPr>
          <p:cNvPr id="31" name="Connector 30"/>
          <p:cNvCxnSpPr/>
          <p:nvPr/>
        </p:nvCxnSpPr>
        <p:spPr>
          <a:xfrm flipH="1">
            <a:off x="2889504" y="2580000"/>
            <a:ext cx="1682496" cy="0"/>
          </a:xfrm>
          <a:prstGeom prst="line">
            <a:avLst/>
          </a:prstGeom>
          <a:ln w="27940">
            <a:solidFill>
              <a:srgbClr val="7DD3FC"/>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260000" y="2398000"/>
            <a:ext cx="900000" cy="150000"/>
          </a:xfrm>
          <a:prstGeom prst="rect">
            <a:avLst/>
          </a:prstGeom>
          <a:noFill/>
        </p:spPr>
        <p:txBody>
          <a:bodyPr wrap="none" lIns="0" tIns="0" rIns="0" bIns="0">
            <a:spAutoFit/>
          </a:bodyPr>
          <a:lstStyle/>
          <a:p>
            <a:pPr algn="l"/>
            <a:r>
              <a:rPr sz="780">
                <a:solidFill>
                  <a:srgbClr val="94A3B8"/>
                </a:solidFill>
                <a:latin typeface="Aptos"/>
              </a:rPr>
              <a:t>azione a_t</a:t>
            </a:r>
          </a:p>
        </p:txBody>
      </p:sp>
      <p:cxnSp>
        <p:nvCxnSpPr>
          <p:cNvPr id="33" name="Connector 32"/>
          <p:cNvCxnSpPr/>
          <p:nvPr/>
        </p:nvCxnSpPr>
        <p:spPr>
          <a:xfrm>
            <a:off x="2889504" y="2925000"/>
            <a:ext cx="1682496" cy="0"/>
          </a:xfrm>
          <a:prstGeom prst="line">
            <a:avLst/>
          </a:prstGeom>
          <a:ln w="27940">
            <a:solidFill>
              <a:srgbClr val="7DD3FC"/>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090000" y="3000000"/>
            <a:ext cx="1280000" cy="150000"/>
          </a:xfrm>
          <a:prstGeom prst="rect">
            <a:avLst/>
          </a:prstGeom>
          <a:noFill/>
        </p:spPr>
        <p:txBody>
          <a:bodyPr wrap="none" lIns="0" tIns="0" rIns="0" bIns="0">
            <a:spAutoFit/>
          </a:bodyPr>
          <a:lstStyle/>
          <a:p>
            <a:pPr algn="l"/>
            <a:r>
              <a:rPr sz="780">
                <a:solidFill>
                  <a:srgbClr val="94A3B8"/>
                </a:solidFill>
                <a:latin typeface="Aptos"/>
              </a:rPr>
              <a:t>frame s', reward</a:t>
            </a:r>
          </a:p>
        </p:txBody>
      </p:sp>
      <p:cxnSp>
        <p:nvCxnSpPr>
          <p:cNvPr id="35" name="Connector 34"/>
          <p:cNvCxnSpPr/>
          <p:nvPr/>
        </p:nvCxnSpPr>
        <p:spPr>
          <a:xfrm flipH="1">
            <a:off x="4870000" y="3305000"/>
            <a:ext cx="600000" cy="795000"/>
          </a:xfrm>
          <a:prstGeom prst="line">
            <a:avLst/>
          </a:prstGeom>
          <a:ln w="27940">
            <a:solidFill>
              <a:srgbClr val="86EFAC"/>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920000" y="3650000"/>
            <a:ext cx="1200000" cy="150000"/>
          </a:xfrm>
          <a:prstGeom prst="rect">
            <a:avLst/>
          </a:prstGeom>
          <a:noFill/>
        </p:spPr>
        <p:txBody>
          <a:bodyPr wrap="none" lIns="0" tIns="0" rIns="0" bIns="0">
            <a:spAutoFit/>
          </a:bodyPr>
          <a:lstStyle/>
          <a:p>
            <a:pPr algn="l"/>
            <a:r>
              <a:rPr sz="780">
                <a:solidFill>
                  <a:srgbClr val="94A3B8"/>
                </a:solidFill>
                <a:latin typeface="Aptos"/>
              </a:rPr>
              <a:t>store transition</a:t>
            </a:r>
          </a:p>
        </p:txBody>
      </p:sp>
      <p:cxnSp>
        <p:nvCxnSpPr>
          <p:cNvPr id="37" name="Connector 36"/>
          <p:cNvCxnSpPr/>
          <p:nvPr/>
        </p:nvCxnSpPr>
        <p:spPr>
          <a:xfrm flipV="1">
            <a:off x="3600000" y="3305000"/>
            <a:ext cx="972000" cy="795000"/>
          </a:xfrm>
          <a:prstGeom prst="line">
            <a:avLst/>
          </a:prstGeom>
          <a:ln w="27940">
            <a:solidFill>
              <a:srgbClr val="A78BFA"/>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450000" y="3620000"/>
            <a:ext cx="1850000" cy="150000"/>
          </a:xfrm>
          <a:prstGeom prst="rect">
            <a:avLst/>
          </a:prstGeom>
          <a:noFill/>
        </p:spPr>
        <p:txBody>
          <a:bodyPr wrap="none" lIns="0" tIns="0" rIns="0" bIns="0">
            <a:spAutoFit/>
          </a:bodyPr>
          <a:lstStyle/>
          <a:p>
            <a:pPr algn="l"/>
            <a:r>
              <a:rPr sz="780">
                <a:solidFill>
                  <a:srgbClr val="94A3B8"/>
                </a:solidFill>
                <a:latin typeface="Aptos"/>
              </a:rPr>
              <a:t>sample minibatch → update Q</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658368" y="256032"/>
            <a:ext cx="10789920" cy="237744"/>
          </a:xfrm>
          <a:prstGeom prst="rect">
            <a:avLst/>
          </a:prstGeom>
          <a:noFill/>
          <a:ln/>
        </p:spPr>
        <p:txBody>
          <a:bodyPr wrap="square" lIns="0" tIns="0" rIns="0" bIns="0" rtlCol="0" anchor="ctr"/>
          <a:lstStyle/>
          <a:p>
            <a:pPr marL="0" indent="0">
              <a:buNone/>
            </a:pPr>
            <a:r>
              <a:rPr lang="en-US" sz="850" b="1" dirty="0">
                <a:solidFill>
                  <a:srgbClr val="7DD3FC"/>
                </a:solidFill>
                <a:latin typeface="Aptos" pitchFamily="34" charset="0"/>
                <a:ea typeface="Aptos" pitchFamily="34" charset="-122"/>
                <a:cs typeface="Aptos" pitchFamily="34" charset="-120"/>
              </a:rPr>
              <a:t>CONTESTO SPERIMENTALE</a:t>
            </a:r>
            <a:endParaRPr lang="en-US" sz="850" dirty="0"/>
          </a:p>
        </p:txBody>
      </p:sp>
      <p:sp>
        <p:nvSpPr>
          <p:cNvPr id="3" name="Text 1"/>
          <p:cNvSpPr/>
          <p:nvPr/>
        </p:nvSpPr>
        <p:spPr>
          <a:xfrm>
            <a:off x="658368" y="566928"/>
            <a:ext cx="10835640" cy="530352"/>
          </a:xfrm>
          <a:prstGeom prst="rect">
            <a:avLst/>
          </a:prstGeom>
          <a:noFill/>
          <a:ln/>
        </p:spPr>
        <p:txBody>
          <a:bodyPr wrap="square" lIns="0" tIns="0" rIns="0" bIns="0" rtlCol="0" anchor="ctr">
            <a:normAutofit/>
          </a:bodyPr>
          <a:lstStyle/>
          <a:p>
            <a:pPr marL="0" indent="0">
              <a:buNone/>
            </a:pPr>
            <a:r>
              <a:rPr lang="en-US" sz="2500" b="1" dirty="0" err="1">
                <a:solidFill>
                  <a:srgbClr val="F8FAFC"/>
                </a:solidFill>
                <a:latin typeface="Aptos Display"/>
                <a:ea typeface="Aptos Display" pitchFamily="34" charset="-122"/>
                <a:cs typeface="Aptos Display" pitchFamily="34" charset="-120"/>
              </a:rPr>
              <a:t>Protocollo</a:t>
            </a:r>
            <a:r>
              <a:rPr lang="en-US" sz="2500" b="1" dirty="0">
                <a:solidFill>
                  <a:srgbClr val="F8FAFC"/>
                </a:solidFill>
                <a:latin typeface="Aptos Display"/>
                <a:ea typeface="Aptos Display" pitchFamily="34" charset="-122"/>
                <a:cs typeface="Aptos Display" pitchFamily="34" charset="-120"/>
              </a:rPr>
              <a:t>: </a:t>
            </a:r>
            <a:r>
              <a:rPr lang="en-US" sz="2500" b="1" dirty="0" err="1">
                <a:solidFill>
                  <a:srgbClr val="F8FAFC"/>
                </a:solidFill>
                <a:latin typeface="Aptos Display"/>
                <a:ea typeface="Aptos Display" pitchFamily="34" charset="-122"/>
                <a:cs typeface="Aptos Display" pitchFamily="34" charset="-120"/>
              </a:rPr>
              <a:t>confronto</a:t>
            </a:r>
            <a:r>
              <a:rPr lang="en-US" sz="2500" b="1" dirty="0">
                <a:solidFill>
                  <a:srgbClr val="F8FAFC"/>
                </a:solidFill>
                <a:latin typeface="Aptos Display"/>
                <a:ea typeface="Aptos Display" pitchFamily="34" charset="-122"/>
                <a:cs typeface="Aptos Display" pitchFamily="34" charset="-120"/>
              </a:rPr>
              <a:t> </a:t>
            </a:r>
            <a:r>
              <a:rPr lang="en-US" sz="2500" b="1" dirty="0" err="1">
                <a:solidFill>
                  <a:srgbClr val="F8FAFC"/>
                </a:solidFill>
                <a:latin typeface="Aptos Display"/>
                <a:ea typeface="Aptos Display" pitchFamily="34" charset="-122"/>
                <a:cs typeface="Aptos Display" pitchFamily="34" charset="-120"/>
              </a:rPr>
              <a:t>controllato</a:t>
            </a:r>
            <a:endParaRPr lang="en-US" sz="2500" dirty="0" err="1">
              <a:latin typeface="Aptos Display"/>
            </a:endParaRPr>
          </a:p>
        </p:txBody>
      </p:sp>
      <p:sp>
        <p:nvSpPr>
          <p:cNvPr id="4" name="Text 2"/>
          <p:cNvSpPr/>
          <p:nvPr/>
        </p:nvSpPr>
        <p:spPr>
          <a:xfrm>
            <a:off x="685800" y="1133856"/>
            <a:ext cx="9966960" cy="365760"/>
          </a:xfrm>
          <a:prstGeom prst="rect">
            <a:avLst/>
          </a:prstGeom>
          <a:noFill/>
          <a:ln/>
        </p:spPr>
        <p:txBody>
          <a:bodyPr wrap="square" lIns="0" tIns="0" rIns="0" bIns="0" rtlCol="0" anchor="ctr">
            <a:normAutofit/>
          </a:bodyPr>
          <a:lstStyle/>
          <a:p>
            <a:r>
              <a:rPr lang="en-US" sz="1550" b="1" dirty="0">
                <a:solidFill>
                  <a:srgbClr val="DCE4F2"/>
                </a:solidFill>
              </a:rPr>
              <a:t>  </a:t>
            </a:r>
            <a:r>
              <a:rPr lang="en-US" sz="1550" b="1" dirty="0" err="1">
                <a:solidFill>
                  <a:srgbClr val="DCE4F2"/>
                </a:solidFill>
              </a:rPr>
              <a:t>Rendere</a:t>
            </a:r>
            <a:r>
              <a:rPr lang="en-US" sz="1550" b="1" dirty="0">
                <a:solidFill>
                  <a:srgbClr val="DCE4F2"/>
                </a:solidFill>
              </a:rPr>
              <a:t> </a:t>
            </a:r>
            <a:r>
              <a:rPr lang="en-US" sz="1550" b="1" dirty="0" err="1">
                <a:solidFill>
                  <a:srgbClr val="DCE4F2"/>
                </a:solidFill>
              </a:rPr>
              <a:t>confrontabili</a:t>
            </a:r>
            <a:r>
              <a:rPr lang="en-US" sz="1550" b="1" dirty="0">
                <a:solidFill>
                  <a:srgbClr val="DCE4F2"/>
                </a:solidFill>
              </a:rPr>
              <a:t> le </a:t>
            </a:r>
            <a:r>
              <a:rPr lang="en-US" sz="1550" b="1" dirty="0" err="1">
                <a:solidFill>
                  <a:srgbClr val="DCE4F2"/>
                </a:solidFill>
              </a:rPr>
              <a:t>famiglie</a:t>
            </a:r>
            <a:r>
              <a:rPr lang="en-US" sz="1550" b="1" dirty="0">
                <a:solidFill>
                  <a:srgbClr val="DCE4F2"/>
                </a:solidFill>
              </a:rPr>
              <a:t> </a:t>
            </a:r>
            <a:r>
              <a:rPr lang="en-US" sz="1550" b="1" dirty="0" err="1">
                <a:solidFill>
                  <a:srgbClr val="DCE4F2"/>
                </a:solidFill>
              </a:rPr>
              <a:t>sperimentali</a:t>
            </a:r>
            <a:r>
              <a:rPr lang="en-US" sz="1550" b="1" dirty="0">
                <a:solidFill>
                  <a:srgbClr val="DCE4F2"/>
                </a:solidFill>
              </a:rPr>
              <a:t>: </a:t>
            </a:r>
            <a:r>
              <a:rPr lang="en-US" sz="1550" b="1" dirty="0" err="1">
                <a:solidFill>
                  <a:srgbClr val="DCE4F2"/>
                </a:solidFill>
              </a:rPr>
              <a:t>stessi</a:t>
            </a:r>
            <a:r>
              <a:rPr lang="en-US" sz="1550" b="1" dirty="0">
                <a:solidFill>
                  <a:srgbClr val="DCE4F2"/>
                </a:solidFill>
              </a:rPr>
              <a:t> seed, </a:t>
            </a:r>
            <a:r>
              <a:rPr lang="en-US" sz="1550" b="1" dirty="0" err="1">
                <a:solidFill>
                  <a:srgbClr val="DCE4F2"/>
                </a:solidFill>
              </a:rPr>
              <a:t>stesso</a:t>
            </a:r>
            <a:r>
              <a:rPr lang="en-US" sz="1550" b="1" dirty="0">
                <a:solidFill>
                  <a:srgbClr val="DCE4F2"/>
                </a:solidFill>
              </a:rPr>
              <a:t> budget, </a:t>
            </a:r>
            <a:r>
              <a:rPr lang="en-US" sz="1550" b="1" dirty="0" err="1">
                <a:solidFill>
                  <a:srgbClr val="DCE4F2"/>
                </a:solidFill>
              </a:rPr>
              <a:t>stessa</a:t>
            </a:r>
            <a:r>
              <a:rPr lang="en-US" sz="1550" b="1" dirty="0">
                <a:solidFill>
                  <a:srgbClr val="DCE4F2"/>
                </a:solidFill>
              </a:rPr>
              <a:t> evaluation.</a:t>
            </a:r>
            <a:endParaRPr lang="en-US" sz="1550" dirty="0"/>
          </a:p>
        </p:txBody>
      </p:sp>
      <p:sp>
        <p:nvSpPr>
          <p:cNvPr id="5" name="Shape 3"/>
          <p:cNvSpPr/>
          <p:nvPr/>
        </p:nvSpPr>
        <p:spPr>
          <a:xfrm>
            <a:off x="777240" y="1901952"/>
            <a:ext cx="1700784" cy="1325880"/>
          </a:xfrm>
          <a:prstGeom prst="roundRect">
            <a:avLst>
              <a:gd name="adj" fmla="val 6897"/>
            </a:avLst>
          </a:prstGeom>
          <a:solidFill>
            <a:srgbClr val="111936"/>
          </a:solidFill>
          <a:ln w="12700">
            <a:solidFill>
              <a:srgbClr val="26314F"/>
            </a:solidFill>
            <a:prstDash val="solid"/>
          </a:ln>
        </p:spPr>
      </p:sp>
      <p:sp>
        <p:nvSpPr>
          <p:cNvPr id="6" name="Text 4"/>
          <p:cNvSpPr/>
          <p:nvPr/>
        </p:nvSpPr>
        <p:spPr>
          <a:xfrm>
            <a:off x="896112" y="2057400"/>
            <a:ext cx="1463040" cy="219456"/>
          </a:xfrm>
          <a:prstGeom prst="rect">
            <a:avLst/>
          </a:prstGeom>
          <a:noFill/>
          <a:ln/>
        </p:spPr>
        <p:txBody>
          <a:bodyPr wrap="square" lIns="0" tIns="0" rIns="0" bIns="0" rtlCol="0" anchor="ctr">
            <a:normAutofit/>
          </a:bodyPr>
          <a:lstStyle/>
          <a:p>
            <a:pPr marL="0" indent="0" algn="ctr">
              <a:buNone/>
            </a:pPr>
            <a:r>
              <a:rPr lang="en-US" sz="1320" b="1" dirty="0">
                <a:solidFill>
                  <a:srgbClr val="F8FAFC"/>
                </a:solidFill>
              </a:rPr>
              <a:t>Preprocessing</a:t>
            </a:r>
            <a:endParaRPr lang="en-US" sz="1320" dirty="0"/>
          </a:p>
        </p:txBody>
      </p:sp>
      <p:sp>
        <p:nvSpPr>
          <p:cNvPr id="7" name="Text 5"/>
          <p:cNvSpPr/>
          <p:nvPr/>
        </p:nvSpPr>
        <p:spPr>
          <a:xfrm>
            <a:off x="914400" y="2414016"/>
            <a:ext cx="1426464" cy="502920"/>
          </a:xfrm>
          <a:prstGeom prst="rect">
            <a:avLst/>
          </a:prstGeom>
          <a:noFill/>
          <a:ln/>
        </p:spPr>
        <p:txBody>
          <a:bodyPr wrap="square" lIns="0" tIns="0" rIns="0" bIns="0" rtlCol="0" anchor="ctr">
            <a:normAutofit/>
          </a:bodyPr>
          <a:lstStyle/>
          <a:p>
            <a:pPr marL="0" indent="0" algn="ctr">
              <a:buNone/>
            </a:pPr>
            <a:r>
              <a:rPr lang="en-US" sz="910" dirty="0">
                <a:solidFill>
                  <a:srgbClr val="DCE4F2"/>
                </a:solidFill>
              </a:rPr>
              <a:t>84×84 grayscale</a:t>
            </a:r>
            <a:endParaRPr lang="en-US" sz="910" dirty="0"/>
          </a:p>
          <a:p>
            <a:pPr marL="0" indent="0" algn="ctr">
              <a:buNone/>
            </a:pPr>
            <a:r>
              <a:rPr lang="en-US" sz="910" dirty="0">
                <a:solidFill>
                  <a:srgbClr val="DCE4F2"/>
                </a:solidFill>
              </a:rPr>
              <a:t>frame skip=4</a:t>
            </a:r>
            <a:endParaRPr lang="en-US" sz="910" dirty="0"/>
          </a:p>
          <a:p>
            <a:pPr marL="0" indent="0" algn="ctr">
              <a:buNone/>
            </a:pPr>
            <a:r>
              <a:rPr lang="en-US" sz="910" dirty="0">
                <a:solidFill>
                  <a:srgbClr val="DCE4F2"/>
                </a:solidFill>
              </a:rPr>
              <a:t>max-pooling</a:t>
            </a:r>
            <a:endParaRPr lang="en-US" sz="910" dirty="0"/>
          </a:p>
        </p:txBody>
      </p:sp>
      <p:sp>
        <p:nvSpPr>
          <p:cNvPr id="8" name="Shape 6"/>
          <p:cNvSpPr/>
          <p:nvPr/>
        </p:nvSpPr>
        <p:spPr>
          <a:xfrm>
            <a:off x="2532888" y="2560320"/>
            <a:ext cx="384048" cy="0"/>
          </a:xfrm>
          <a:prstGeom prst="line">
            <a:avLst/>
          </a:prstGeom>
          <a:noFill/>
          <a:ln w="19050">
            <a:solidFill>
              <a:srgbClr val="94A3B8">
                <a:alpha val="85000"/>
              </a:srgbClr>
            </a:solidFill>
            <a:prstDash val="solid"/>
            <a:tailEnd type="triangle"/>
          </a:ln>
        </p:spPr>
      </p:sp>
      <p:sp>
        <p:nvSpPr>
          <p:cNvPr id="9" name="Shape 7"/>
          <p:cNvSpPr/>
          <p:nvPr/>
        </p:nvSpPr>
        <p:spPr>
          <a:xfrm>
            <a:off x="2962656" y="1901952"/>
            <a:ext cx="1700784" cy="1325880"/>
          </a:xfrm>
          <a:prstGeom prst="roundRect">
            <a:avLst>
              <a:gd name="adj" fmla="val 6897"/>
            </a:avLst>
          </a:prstGeom>
          <a:solidFill>
            <a:srgbClr val="111936"/>
          </a:solidFill>
          <a:ln w="12700">
            <a:solidFill>
              <a:srgbClr val="26314F"/>
            </a:solidFill>
            <a:prstDash val="solid"/>
          </a:ln>
        </p:spPr>
      </p:sp>
      <p:sp>
        <p:nvSpPr>
          <p:cNvPr id="10" name="Text 8"/>
          <p:cNvSpPr/>
          <p:nvPr/>
        </p:nvSpPr>
        <p:spPr>
          <a:xfrm>
            <a:off x="3081528" y="2057400"/>
            <a:ext cx="1463040" cy="219456"/>
          </a:xfrm>
          <a:prstGeom prst="rect">
            <a:avLst/>
          </a:prstGeom>
          <a:noFill/>
          <a:ln/>
        </p:spPr>
        <p:txBody>
          <a:bodyPr wrap="square" lIns="0" tIns="0" rIns="0" bIns="0" rtlCol="0" anchor="ctr">
            <a:normAutofit/>
          </a:bodyPr>
          <a:lstStyle/>
          <a:p>
            <a:pPr marL="0" indent="0" algn="ctr">
              <a:buNone/>
            </a:pPr>
            <a:r>
              <a:rPr lang="en-US" sz="1320" b="1" dirty="0">
                <a:solidFill>
                  <a:srgbClr val="F8FAFC"/>
                </a:solidFill>
              </a:rPr>
              <a:t>Stato</a:t>
            </a:r>
            <a:endParaRPr lang="en-US" sz="1320" dirty="0"/>
          </a:p>
        </p:txBody>
      </p:sp>
      <p:sp>
        <p:nvSpPr>
          <p:cNvPr id="11" name="Text 9"/>
          <p:cNvSpPr/>
          <p:nvPr/>
        </p:nvSpPr>
        <p:spPr>
          <a:xfrm>
            <a:off x="3099816" y="2414016"/>
            <a:ext cx="1426464" cy="502920"/>
          </a:xfrm>
          <a:prstGeom prst="rect">
            <a:avLst/>
          </a:prstGeom>
          <a:noFill/>
          <a:ln/>
        </p:spPr>
        <p:txBody>
          <a:bodyPr wrap="square" lIns="0" tIns="0" rIns="0" bIns="0" rtlCol="0" anchor="ctr">
            <a:normAutofit/>
          </a:bodyPr>
          <a:lstStyle/>
          <a:p>
            <a:pPr marL="0" indent="0" algn="ctr">
              <a:buNone/>
            </a:pPr>
            <a:r>
              <a:rPr lang="en-US" sz="910" dirty="0">
                <a:solidFill>
                  <a:srgbClr val="DCE4F2"/>
                </a:solidFill>
              </a:rPr>
              <a:t>stack 4 frame</a:t>
            </a:r>
            <a:endParaRPr lang="en-US" sz="910" dirty="0"/>
          </a:p>
          <a:p>
            <a:pPr marL="0" indent="0" algn="ctr">
              <a:buNone/>
            </a:pPr>
            <a:r>
              <a:rPr lang="en-US" sz="910" dirty="0">
                <a:solidFill>
                  <a:srgbClr val="DCE4F2"/>
                </a:solidFill>
              </a:rPr>
              <a:t>Markov approx.</a:t>
            </a:r>
            <a:endParaRPr lang="en-US" sz="910" dirty="0"/>
          </a:p>
          <a:p>
            <a:pPr marL="0" indent="0" algn="ctr">
              <a:buNone/>
            </a:pPr>
            <a:r>
              <a:rPr lang="en-US" sz="910" dirty="0">
                <a:solidFill>
                  <a:srgbClr val="DCE4F2"/>
                </a:solidFill>
              </a:rPr>
              <a:t>3 azioni</a:t>
            </a:r>
            <a:endParaRPr lang="en-US" sz="910" dirty="0"/>
          </a:p>
        </p:txBody>
      </p:sp>
      <p:sp>
        <p:nvSpPr>
          <p:cNvPr id="12" name="Shape 10"/>
          <p:cNvSpPr/>
          <p:nvPr/>
        </p:nvSpPr>
        <p:spPr>
          <a:xfrm>
            <a:off x="4718304" y="2560320"/>
            <a:ext cx="384048" cy="0"/>
          </a:xfrm>
          <a:prstGeom prst="line">
            <a:avLst/>
          </a:prstGeom>
          <a:noFill/>
          <a:ln w="19050">
            <a:solidFill>
              <a:srgbClr val="94A3B8">
                <a:alpha val="85000"/>
              </a:srgbClr>
            </a:solidFill>
            <a:prstDash val="solid"/>
            <a:tailEnd type="triangle"/>
          </a:ln>
        </p:spPr>
      </p:sp>
      <p:sp>
        <p:nvSpPr>
          <p:cNvPr id="13" name="Shape 11"/>
          <p:cNvSpPr/>
          <p:nvPr/>
        </p:nvSpPr>
        <p:spPr>
          <a:xfrm>
            <a:off x="5148072" y="1901952"/>
            <a:ext cx="1700784" cy="1325880"/>
          </a:xfrm>
          <a:prstGeom prst="roundRect">
            <a:avLst>
              <a:gd name="adj" fmla="val 6897"/>
            </a:avLst>
          </a:prstGeom>
          <a:solidFill>
            <a:srgbClr val="111936"/>
          </a:solidFill>
          <a:ln w="12700">
            <a:solidFill>
              <a:srgbClr val="26314F"/>
            </a:solidFill>
            <a:prstDash val="solid"/>
          </a:ln>
        </p:spPr>
      </p:sp>
      <p:sp>
        <p:nvSpPr>
          <p:cNvPr id="14" name="Text 12"/>
          <p:cNvSpPr/>
          <p:nvPr/>
        </p:nvSpPr>
        <p:spPr>
          <a:xfrm>
            <a:off x="5266944" y="2057400"/>
            <a:ext cx="1463040" cy="219456"/>
          </a:xfrm>
          <a:prstGeom prst="rect">
            <a:avLst/>
          </a:prstGeom>
          <a:noFill/>
          <a:ln/>
        </p:spPr>
        <p:txBody>
          <a:bodyPr wrap="square" lIns="0" tIns="0" rIns="0" bIns="0" rtlCol="0" anchor="ctr">
            <a:normAutofit/>
          </a:bodyPr>
          <a:lstStyle/>
          <a:p>
            <a:pPr marL="0" indent="0" algn="ctr">
              <a:buNone/>
            </a:pPr>
            <a:r>
              <a:rPr lang="en-US" sz="1320" b="1" dirty="0">
                <a:solidFill>
                  <a:srgbClr val="F8FAFC"/>
                </a:solidFill>
              </a:rPr>
              <a:t>Training</a:t>
            </a:r>
            <a:endParaRPr lang="en-US" sz="1320" dirty="0"/>
          </a:p>
        </p:txBody>
      </p:sp>
      <p:sp>
        <p:nvSpPr>
          <p:cNvPr id="15" name="Text 13"/>
          <p:cNvSpPr/>
          <p:nvPr/>
        </p:nvSpPr>
        <p:spPr>
          <a:xfrm>
            <a:off x="5285232" y="2414016"/>
            <a:ext cx="1426464" cy="502920"/>
          </a:xfrm>
          <a:prstGeom prst="rect">
            <a:avLst/>
          </a:prstGeom>
          <a:noFill/>
          <a:ln/>
        </p:spPr>
        <p:txBody>
          <a:bodyPr wrap="square" lIns="0" tIns="0" rIns="0" bIns="0" rtlCol="0" anchor="ctr">
            <a:normAutofit/>
          </a:bodyPr>
          <a:lstStyle/>
          <a:p>
            <a:pPr marL="0" indent="0" algn="ctr">
              <a:buNone/>
            </a:pPr>
            <a:r>
              <a:rPr lang="en-US" sz="910" dirty="0">
                <a:solidFill>
                  <a:srgbClr val="DCE4F2"/>
                </a:solidFill>
              </a:rPr>
              <a:t>Adam 1e-4</a:t>
            </a:r>
            <a:endParaRPr lang="en-US" sz="910" dirty="0"/>
          </a:p>
          <a:p>
            <a:pPr marL="0" indent="0" algn="ctr">
              <a:buNone/>
            </a:pPr>
            <a:r>
              <a:rPr lang="en-US" sz="910" dirty="0">
                <a:solidFill>
                  <a:srgbClr val="DCE4F2"/>
                </a:solidFill>
              </a:rPr>
              <a:t>batch 64</a:t>
            </a:r>
            <a:endParaRPr lang="en-US" sz="910" dirty="0"/>
          </a:p>
          <a:p>
            <a:pPr marL="0" indent="0" algn="ctr">
              <a:buNone/>
            </a:pPr>
            <a:r>
              <a:rPr lang="en-US" sz="910" dirty="0">
                <a:solidFill>
                  <a:srgbClr val="DCE4F2"/>
                </a:solidFill>
              </a:rPr>
              <a:t>buffer 100k</a:t>
            </a:r>
            <a:endParaRPr lang="en-US" sz="910" dirty="0"/>
          </a:p>
        </p:txBody>
      </p:sp>
      <p:sp>
        <p:nvSpPr>
          <p:cNvPr id="16" name="Shape 14"/>
          <p:cNvSpPr/>
          <p:nvPr/>
        </p:nvSpPr>
        <p:spPr>
          <a:xfrm>
            <a:off x="6903720" y="2560320"/>
            <a:ext cx="384048" cy="0"/>
          </a:xfrm>
          <a:prstGeom prst="line">
            <a:avLst/>
          </a:prstGeom>
          <a:noFill/>
          <a:ln w="19050">
            <a:solidFill>
              <a:srgbClr val="94A3B8">
                <a:alpha val="85000"/>
              </a:srgbClr>
            </a:solidFill>
            <a:prstDash val="solid"/>
            <a:tailEnd type="triangle"/>
          </a:ln>
        </p:spPr>
      </p:sp>
      <p:sp>
        <p:nvSpPr>
          <p:cNvPr id="17" name="Shape 15"/>
          <p:cNvSpPr/>
          <p:nvPr/>
        </p:nvSpPr>
        <p:spPr>
          <a:xfrm>
            <a:off x="7333488" y="1901952"/>
            <a:ext cx="1700784" cy="1325880"/>
          </a:xfrm>
          <a:prstGeom prst="roundRect">
            <a:avLst>
              <a:gd name="adj" fmla="val 6897"/>
            </a:avLst>
          </a:prstGeom>
          <a:solidFill>
            <a:srgbClr val="111936"/>
          </a:solidFill>
          <a:ln w="12700">
            <a:solidFill>
              <a:srgbClr val="26314F"/>
            </a:solidFill>
            <a:prstDash val="solid"/>
          </a:ln>
        </p:spPr>
      </p:sp>
      <p:sp>
        <p:nvSpPr>
          <p:cNvPr id="18" name="Text 16"/>
          <p:cNvSpPr/>
          <p:nvPr/>
        </p:nvSpPr>
        <p:spPr>
          <a:xfrm>
            <a:off x="7452360" y="2057400"/>
            <a:ext cx="1463040" cy="219456"/>
          </a:xfrm>
          <a:prstGeom prst="rect">
            <a:avLst/>
          </a:prstGeom>
          <a:noFill/>
          <a:ln/>
        </p:spPr>
        <p:txBody>
          <a:bodyPr wrap="square" lIns="0" tIns="0" rIns="0" bIns="0" rtlCol="0" anchor="ctr">
            <a:normAutofit/>
          </a:bodyPr>
          <a:lstStyle/>
          <a:p>
            <a:pPr marL="0" indent="0" algn="ctr">
              <a:buNone/>
            </a:pPr>
            <a:r>
              <a:rPr lang="en-US" sz="1320" b="1" dirty="0">
                <a:solidFill>
                  <a:srgbClr val="F8FAFC"/>
                </a:solidFill>
              </a:rPr>
              <a:t>Replication</a:t>
            </a:r>
            <a:endParaRPr lang="en-US" sz="1320" dirty="0"/>
          </a:p>
        </p:txBody>
      </p:sp>
      <p:sp>
        <p:nvSpPr>
          <p:cNvPr id="19" name="Text 17"/>
          <p:cNvSpPr/>
          <p:nvPr/>
        </p:nvSpPr>
        <p:spPr>
          <a:xfrm>
            <a:off x="7470648" y="2414016"/>
            <a:ext cx="1426464" cy="502920"/>
          </a:xfrm>
          <a:prstGeom prst="rect">
            <a:avLst/>
          </a:prstGeom>
          <a:noFill/>
          <a:ln/>
        </p:spPr>
        <p:txBody>
          <a:bodyPr wrap="square" lIns="0" tIns="0" rIns="0" bIns="0" rtlCol="0" anchor="ctr">
            <a:normAutofit/>
          </a:bodyPr>
          <a:lstStyle/>
          <a:p>
            <a:pPr marL="0" indent="0" algn="ctr">
              <a:buNone/>
            </a:pPr>
            <a:r>
              <a:rPr lang="en-US" sz="910" dirty="0">
                <a:solidFill>
                  <a:srgbClr val="DCE4F2"/>
                </a:solidFill>
              </a:rPr>
              <a:t>seed 42,2,3</a:t>
            </a:r>
            <a:endParaRPr lang="en-US" sz="910" dirty="0"/>
          </a:p>
          <a:p>
            <a:pPr marL="0" indent="0" algn="ctr">
              <a:buNone/>
            </a:pPr>
            <a:r>
              <a:rPr lang="en-US" sz="910" dirty="0">
                <a:solidFill>
                  <a:srgbClr val="DCE4F2"/>
                </a:solidFill>
              </a:rPr>
              <a:t>1.8M step</a:t>
            </a:r>
            <a:endParaRPr lang="en-US" sz="910" dirty="0"/>
          </a:p>
          <a:p>
            <a:pPr marL="0" indent="0" algn="ctr">
              <a:buNone/>
            </a:pPr>
            <a:r>
              <a:rPr lang="en-US" sz="910" dirty="0">
                <a:solidFill>
                  <a:srgbClr val="DCE4F2"/>
                </a:solidFill>
              </a:rPr>
              <a:t>per config.</a:t>
            </a:r>
            <a:endParaRPr lang="en-US" sz="910" dirty="0"/>
          </a:p>
        </p:txBody>
      </p:sp>
      <p:sp>
        <p:nvSpPr>
          <p:cNvPr id="20" name="Shape 18"/>
          <p:cNvSpPr/>
          <p:nvPr/>
        </p:nvSpPr>
        <p:spPr>
          <a:xfrm>
            <a:off x="9089136" y="2560320"/>
            <a:ext cx="384048" cy="0"/>
          </a:xfrm>
          <a:prstGeom prst="line">
            <a:avLst/>
          </a:prstGeom>
          <a:noFill/>
          <a:ln w="19050">
            <a:solidFill>
              <a:srgbClr val="94A3B8">
                <a:alpha val="85000"/>
              </a:srgbClr>
            </a:solidFill>
            <a:prstDash val="solid"/>
            <a:tailEnd type="triangle"/>
          </a:ln>
        </p:spPr>
      </p:sp>
      <p:sp>
        <p:nvSpPr>
          <p:cNvPr id="21" name="Shape 19"/>
          <p:cNvSpPr/>
          <p:nvPr/>
        </p:nvSpPr>
        <p:spPr>
          <a:xfrm>
            <a:off x="9518904" y="1901952"/>
            <a:ext cx="1700784" cy="1325880"/>
          </a:xfrm>
          <a:prstGeom prst="roundRect">
            <a:avLst>
              <a:gd name="adj" fmla="val 6897"/>
            </a:avLst>
          </a:prstGeom>
          <a:solidFill>
            <a:srgbClr val="10202A"/>
          </a:solidFill>
          <a:ln w="12700">
            <a:solidFill>
              <a:srgbClr val="86EFAC"/>
            </a:solidFill>
            <a:prstDash val="solid"/>
          </a:ln>
        </p:spPr>
      </p:sp>
      <p:sp>
        <p:nvSpPr>
          <p:cNvPr id="22" name="Text 20"/>
          <p:cNvSpPr/>
          <p:nvPr/>
        </p:nvSpPr>
        <p:spPr>
          <a:xfrm>
            <a:off x="9637776" y="2057400"/>
            <a:ext cx="1463040" cy="219456"/>
          </a:xfrm>
          <a:prstGeom prst="rect">
            <a:avLst/>
          </a:prstGeom>
          <a:noFill/>
          <a:ln/>
        </p:spPr>
        <p:txBody>
          <a:bodyPr wrap="square" lIns="0" tIns="0" rIns="0" bIns="0" rtlCol="0" anchor="ctr">
            <a:normAutofit/>
          </a:bodyPr>
          <a:lstStyle/>
          <a:p>
            <a:pPr marL="0" indent="0" algn="ctr">
              <a:buNone/>
            </a:pPr>
            <a:r>
              <a:rPr lang="en-US" sz="1320" b="1" dirty="0">
                <a:solidFill>
                  <a:srgbClr val="86EFAC"/>
                </a:solidFill>
              </a:rPr>
              <a:t>Evaluation</a:t>
            </a:r>
            <a:endParaRPr lang="en-US" sz="1320" dirty="0"/>
          </a:p>
        </p:txBody>
      </p:sp>
      <p:sp>
        <p:nvSpPr>
          <p:cNvPr id="23" name="Text 21"/>
          <p:cNvSpPr/>
          <p:nvPr/>
        </p:nvSpPr>
        <p:spPr>
          <a:xfrm>
            <a:off x="9656064" y="2414016"/>
            <a:ext cx="1426464" cy="502920"/>
          </a:xfrm>
          <a:prstGeom prst="rect">
            <a:avLst/>
          </a:prstGeom>
          <a:noFill/>
          <a:ln/>
        </p:spPr>
        <p:txBody>
          <a:bodyPr wrap="square" lIns="0" tIns="0" rIns="0" bIns="0" rtlCol="0" anchor="ctr">
            <a:normAutofit/>
          </a:bodyPr>
          <a:lstStyle/>
          <a:p>
            <a:pPr marL="0" indent="0" algn="ctr">
              <a:buNone/>
            </a:pPr>
            <a:r>
              <a:rPr lang="en-US" sz="910" dirty="0">
                <a:solidFill>
                  <a:srgbClr val="DCE4F2"/>
                </a:solidFill>
              </a:rPr>
              <a:t>policy greedy</a:t>
            </a:r>
            <a:endParaRPr lang="en-US" sz="910" dirty="0"/>
          </a:p>
          <a:p>
            <a:pPr marL="0" indent="0" algn="ctr">
              <a:buNone/>
            </a:pPr>
            <a:r>
              <a:rPr lang="en-US" sz="910" dirty="0">
                <a:solidFill>
                  <a:srgbClr val="DCE4F2"/>
                </a:solidFill>
              </a:rPr>
              <a:t>20 episodi</a:t>
            </a:r>
            <a:endParaRPr lang="en-US" sz="910" dirty="0"/>
          </a:p>
          <a:p>
            <a:pPr marL="0" indent="0" algn="ctr">
              <a:buNone/>
            </a:pPr>
            <a:r>
              <a:rPr lang="en-US" sz="910" dirty="0">
                <a:solidFill>
                  <a:srgbClr val="DCE4F2"/>
                </a:solidFill>
              </a:rPr>
              <a:t>reward Atari</a:t>
            </a:r>
            <a:endParaRPr lang="en-US" sz="910" dirty="0"/>
          </a:p>
        </p:txBody>
      </p:sp>
      <p:sp>
        <p:nvSpPr>
          <p:cNvPr id="24" name="Shape 22"/>
          <p:cNvSpPr/>
          <p:nvPr/>
        </p:nvSpPr>
        <p:spPr>
          <a:xfrm>
            <a:off x="777240" y="3794760"/>
            <a:ext cx="4800600" cy="1874520"/>
          </a:xfrm>
          <a:prstGeom prst="roundRect">
            <a:avLst>
              <a:gd name="adj" fmla="val 4878"/>
            </a:avLst>
          </a:prstGeom>
          <a:solidFill>
            <a:srgbClr val="FFFFFF"/>
          </a:solidFill>
          <a:ln w="12700">
            <a:solidFill>
              <a:srgbClr val="233153">
                <a:alpha val="80000"/>
              </a:srgbClr>
            </a:solidFill>
            <a:prstDash val="solid"/>
          </a:ln>
        </p:spPr>
      </p:sp>
      <p:pic>
        <p:nvPicPr>
          <p:cNvPr id="25" name="Image 0" descr="/mnt/data/pong_proj/pong_project/figures/report/epsilon_schedules.png"/>
          <p:cNvPicPr>
            <a:picLocks noChangeAspect="1"/>
          </p:cNvPicPr>
          <p:nvPr/>
        </p:nvPicPr>
        <p:blipFill>
          <a:blip r:embed="rId3"/>
          <a:stretch>
            <a:fillRect/>
          </a:stretch>
        </p:blipFill>
        <p:spPr>
          <a:xfrm>
            <a:off x="1662622" y="3858768"/>
            <a:ext cx="3029837" cy="1746504"/>
          </a:xfrm>
          <a:prstGeom prst="rect">
            <a:avLst/>
          </a:prstGeom>
        </p:spPr>
      </p:pic>
      <p:sp>
        <p:nvSpPr>
          <p:cNvPr id="26" name="Text 23"/>
          <p:cNvSpPr/>
          <p:nvPr/>
        </p:nvSpPr>
        <p:spPr>
          <a:xfrm>
            <a:off x="777240" y="5724144"/>
            <a:ext cx="4800600" cy="201168"/>
          </a:xfrm>
          <a:prstGeom prst="rect">
            <a:avLst/>
          </a:prstGeom>
          <a:noFill/>
          <a:ln/>
        </p:spPr>
        <p:txBody>
          <a:bodyPr wrap="square" lIns="0" tIns="0" rIns="0" bIns="0" rtlCol="0" anchor="ctr">
            <a:normAutofit/>
          </a:bodyPr>
          <a:lstStyle/>
          <a:p>
            <a:pPr marL="0" indent="0">
              <a:buNone/>
            </a:pPr>
            <a:r>
              <a:rPr lang="en-US" sz="750" dirty="0">
                <a:solidFill>
                  <a:srgbClr val="94A3B8"/>
                </a:solidFill>
              </a:rPr>
              <a:t>Le schedule esplorative confrontate hanno estremi controllati</a:t>
            </a:r>
            <a:endParaRPr lang="en-US" sz="750" dirty="0"/>
          </a:p>
        </p:txBody>
      </p:sp>
      <p:sp>
        <p:nvSpPr>
          <p:cNvPr id="27" name="Shape 24"/>
          <p:cNvSpPr/>
          <p:nvPr/>
        </p:nvSpPr>
        <p:spPr>
          <a:xfrm>
            <a:off x="5989320" y="3822192"/>
            <a:ext cx="5074920" cy="1783080"/>
          </a:xfrm>
          <a:prstGeom prst="roundRect">
            <a:avLst>
              <a:gd name="adj" fmla="val 5128"/>
            </a:avLst>
          </a:prstGeom>
          <a:solidFill>
            <a:srgbClr val="0D1630"/>
          </a:solidFill>
          <a:ln w="12700">
            <a:solidFill>
              <a:srgbClr val="7DD3FC"/>
            </a:solidFill>
            <a:prstDash val="solid"/>
          </a:ln>
        </p:spPr>
      </p:sp>
      <p:sp>
        <p:nvSpPr>
          <p:cNvPr id="31"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E7897"/>
                </a:solidFill>
              </a:defRPr>
            </a:lvl1pPr>
          </a:lstStyle>
          <a:p>
            <a:pPr algn="l"/>
            <a:fld id="{F7021451-1387-4CA6-816F-3879F97B5CBC}" type="slidenum">
              <a:rPr lang="en-US" b="0"/>
              <a:t>3</a:t>
            </a:fld>
            <a:endParaRPr lang="en-US"/>
          </a:p>
        </p:txBody>
      </p:sp>
      <p:sp>
        <p:nvSpPr>
          <p:cNvPr id="32" name="TextBox 31"/>
          <p:cNvSpPr txBox="1"/>
          <p:nvPr/>
        </p:nvSpPr>
        <p:spPr>
          <a:xfrm>
            <a:off x="6245352" y="3986784"/>
            <a:ext cx="4562856" cy="201168"/>
          </a:xfrm>
          <a:prstGeom prst="rect">
            <a:avLst/>
          </a:prstGeom>
          <a:noFill/>
        </p:spPr>
        <p:txBody>
          <a:bodyPr wrap="none" lIns="0" tIns="0" rIns="0" bIns="0">
            <a:spAutoFit/>
          </a:bodyPr>
          <a:lstStyle/>
          <a:p>
            <a:r>
              <a:rPr sz="1050" b="1">
                <a:solidFill>
                  <a:srgbClr val="7DD3FC"/>
                </a:solidFill>
                <a:latin typeface="Aptos"/>
              </a:rPr>
              <a:t>FAIRNESS DEL CONFRONTO</a:t>
            </a:r>
          </a:p>
        </p:txBody>
      </p:sp>
      <p:sp>
        <p:nvSpPr>
          <p:cNvPr id="33" name="Oval 32"/>
          <p:cNvSpPr/>
          <p:nvPr/>
        </p:nvSpPr>
        <p:spPr>
          <a:xfrm>
            <a:off x="6245352" y="4329684"/>
            <a:ext cx="82296" cy="82296"/>
          </a:xfrm>
          <a:prstGeom prst="ellipse">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9944" y="4279392"/>
            <a:ext cx="1018549" cy="184666"/>
          </a:xfrm>
          <a:prstGeom prst="rect">
            <a:avLst/>
          </a:prstGeom>
          <a:noFill/>
        </p:spPr>
        <p:txBody>
          <a:bodyPr wrap="none" lIns="0" tIns="0" rIns="0" bIns="0" anchor="t">
            <a:spAutoFit/>
          </a:bodyPr>
          <a:lstStyle/>
          <a:p>
            <a:pPr algn="l">
              <a:spcAft>
                <a:spcPts val="0"/>
              </a:spcAft>
            </a:pPr>
            <a:r>
              <a:rPr sz="1200" b="1" dirty="0">
                <a:solidFill>
                  <a:srgbClr val="F8FAFC"/>
                </a:solidFill>
                <a:latin typeface="Aptos"/>
              </a:rPr>
              <a:t>Seed allineati  </a:t>
            </a:r>
            <a:endParaRPr lang="it-IT" sz="1100" dirty="0">
              <a:solidFill>
                <a:srgbClr val="DCE4F2"/>
              </a:solidFill>
              <a:latin typeface="Aptos"/>
            </a:endParaRPr>
          </a:p>
        </p:txBody>
      </p:sp>
      <p:sp>
        <p:nvSpPr>
          <p:cNvPr id="35" name="Oval 34"/>
          <p:cNvSpPr/>
          <p:nvPr/>
        </p:nvSpPr>
        <p:spPr>
          <a:xfrm>
            <a:off x="6245352" y="4631436"/>
            <a:ext cx="82296" cy="82296"/>
          </a:xfrm>
          <a:prstGeom prst="ellipse">
            <a:avLst/>
          </a:prstGeom>
          <a:solidFill>
            <a:srgbClr val="7DD3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9944" y="4581144"/>
            <a:ext cx="1161921" cy="184666"/>
          </a:xfrm>
          <a:prstGeom prst="rect">
            <a:avLst/>
          </a:prstGeom>
          <a:noFill/>
        </p:spPr>
        <p:txBody>
          <a:bodyPr wrap="none" lIns="0" tIns="0" rIns="0" bIns="0" anchor="t">
            <a:spAutoFit/>
          </a:bodyPr>
          <a:lstStyle/>
          <a:p>
            <a:pPr algn="l">
              <a:spcAft>
                <a:spcPts val="0"/>
              </a:spcAft>
            </a:pPr>
            <a:r>
              <a:rPr sz="1200" b="1" dirty="0">
                <a:solidFill>
                  <a:srgbClr val="F8FAFC"/>
                </a:solidFill>
                <a:latin typeface="Aptos"/>
              </a:rPr>
              <a:t>Budget identico  </a:t>
            </a:r>
            <a:endParaRPr lang="it-IT" sz="1100" dirty="0">
              <a:solidFill>
                <a:srgbClr val="DCE4F2"/>
              </a:solidFill>
            </a:endParaRPr>
          </a:p>
        </p:txBody>
      </p:sp>
      <p:sp>
        <p:nvSpPr>
          <p:cNvPr id="37" name="Oval 36"/>
          <p:cNvSpPr/>
          <p:nvPr/>
        </p:nvSpPr>
        <p:spPr>
          <a:xfrm>
            <a:off x="6245352" y="4933188"/>
            <a:ext cx="82296" cy="82296"/>
          </a:xfrm>
          <a:prstGeom prst="ellipse">
            <a:avLst/>
          </a:prstGeom>
          <a:solidFill>
            <a:srgbClr val="86E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9944" y="4882896"/>
            <a:ext cx="1407758" cy="184666"/>
          </a:xfrm>
          <a:prstGeom prst="rect">
            <a:avLst/>
          </a:prstGeom>
          <a:noFill/>
        </p:spPr>
        <p:txBody>
          <a:bodyPr wrap="none" lIns="0" tIns="0" rIns="0" bIns="0" anchor="t">
            <a:spAutoFit/>
          </a:bodyPr>
          <a:lstStyle/>
          <a:p>
            <a:pPr algn="l">
              <a:spcAft>
                <a:spcPts val="0"/>
              </a:spcAft>
            </a:pPr>
            <a:r>
              <a:rPr sz="1200" b="1" dirty="0">
                <a:solidFill>
                  <a:srgbClr val="F8FAFC"/>
                </a:solidFill>
                <a:latin typeface="Aptos"/>
              </a:rPr>
              <a:t>Evaluation identica  </a:t>
            </a:r>
            <a:endParaRPr lang="it-IT" sz="1100" dirty="0">
              <a:solidFill>
                <a:srgbClr val="DCE4F2"/>
              </a:solidFill>
              <a:latin typeface="Aptos"/>
            </a:endParaRPr>
          </a:p>
        </p:txBody>
      </p:sp>
      <p:sp>
        <p:nvSpPr>
          <p:cNvPr id="39" name="Rectangle 38"/>
          <p:cNvSpPr/>
          <p:nvPr/>
        </p:nvSpPr>
        <p:spPr>
          <a:xfrm>
            <a:off x="6245352" y="5184648"/>
            <a:ext cx="4562856" cy="7315"/>
          </a:xfrm>
          <a:prstGeom prst="rect">
            <a:avLst/>
          </a:prstGeom>
          <a:solidFill>
            <a:srgbClr val="2331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658368" y="256032"/>
            <a:ext cx="10789920" cy="237744"/>
          </a:xfrm>
          <a:prstGeom prst="rect">
            <a:avLst/>
          </a:prstGeom>
          <a:noFill/>
          <a:ln/>
        </p:spPr>
        <p:txBody>
          <a:bodyPr wrap="square" lIns="0" tIns="0" rIns="0" bIns="0" rtlCol="0" anchor="ctr"/>
          <a:lstStyle/>
          <a:p>
            <a:pPr marL="0" indent="0">
              <a:buNone/>
            </a:pPr>
            <a:r>
              <a:rPr lang="en-US" sz="850" b="1" dirty="0">
                <a:solidFill>
                  <a:srgbClr val="7DD3FC"/>
                </a:solidFill>
                <a:latin typeface="Aptos" pitchFamily="34" charset="0"/>
                <a:ea typeface="Aptos" pitchFamily="34" charset="-122"/>
                <a:cs typeface="Aptos" pitchFamily="34" charset="-120"/>
              </a:rPr>
              <a:t>METODO / BASELINE</a:t>
            </a:r>
            <a:endParaRPr lang="en-US" sz="850" dirty="0"/>
          </a:p>
        </p:txBody>
      </p:sp>
      <p:sp>
        <p:nvSpPr>
          <p:cNvPr id="3" name="Text 1"/>
          <p:cNvSpPr/>
          <p:nvPr/>
        </p:nvSpPr>
        <p:spPr>
          <a:xfrm>
            <a:off x="658368" y="566928"/>
            <a:ext cx="10835640" cy="530352"/>
          </a:xfrm>
          <a:prstGeom prst="rect">
            <a:avLst/>
          </a:prstGeom>
          <a:noFill/>
          <a:ln/>
        </p:spPr>
        <p:txBody>
          <a:bodyPr wrap="square" lIns="0" tIns="0" rIns="0" bIns="0" rtlCol="0" anchor="ctr">
            <a:normAutofit/>
          </a:bodyPr>
          <a:lstStyle/>
          <a:p>
            <a:pPr marL="0" indent="0">
              <a:buNone/>
            </a:pPr>
            <a:r>
              <a:rPr lang="en-US" sz="2500" b="1" dirty="0" err="1">
                <a:solidFill>
                  <a:srgbClr val="F8FAFC"/>
                </a:solidFill>
                <a:latin typeface="Aptos Display"/>
                <a:ea typeface="Aptos Display" pitchFamily="34" charset="-122"/>
                <a:cs typeface="Aptos Display" pitchFamily="34" charset="-120"/>
              </a:rPr>
              <a:t>Metodo</a:t>
            </a:r>
            <a:r>
              <a:rPr lang="en-US" sz="2500" b="1" dirty="0">
                <a:solidFill>
                  <a:srgbClr val="F8FAFC"/>
                </a:solidFill>
                <a:latin typeface="Aptos Display"/>
                <a:ea typeface="Aptos Display" pitchFamily="34" charset="-122"/>
                <a:cs typeface="Aptos Display" pitchFamily="34" charset="-120"/>
              </a:rPr>
              <a:t>: </a:t>
            </a:r>
            <a:r>
              <a:rPr lang="en-US" sz="2500" b="1" dirty="0" err="1">
                <a:solidFill>
                  <a:srgbClr val="F8FAFC"/>
                </a:solidFill>
                <a:latin typeface="Aptos Display"/>
                <a:ea typeface="Aptos Display" pitchFamily="34" charset="-122"/>
                <a:cs typeface="Aptos Display" pitchFamily="34" charset="-120"/>
              </a:rPr>
              <a:t>una</a:t>
            </a:r>
            <a:r>
              <a:rPr lang="en-US" sz="2500" b="1" dirty="0">
                <a:solidFill>
                  <a:srgbClr val="F8FAFC"/>
                </a:solidFill>
                <a:latin typeface="Aptos Display"/>
                <a:ea typeface="Aptos Display" pitchFamily="34" charset="-122"/>
                <a:cs typeface="Aptos Display" pitchFamily="34" charset="-120"/>
              </a:rPr>
              <a:t> DQN </a:t>
            </a:r>
            <a:r>
              <a:rPr lang="en-US" sz="2500" b="1" dirty="0" err="1">
                <a:solidFill>
                  <a:srgbClr val="F8FAFC"/>
                </a:solidFill>
                <a:latin typeface="Aptos Display"/>
                <a:ea typeface="Aptos Display" pitchFamily="34" charset="-122"/>
                <a:cs typeface="Aptos Display" pitchFamily="34" charset="-120"/>
              </a:rPr>
              <a:t>convoluzionale</a:t>
            </a:r>
            <a:r>
              <a:rPr lang="en-US" sz="2500" b="1" dirty="0">
                <a:solidFill>
                  <a:srgbClr val="F8FAFC"/>
                </a:solidFill>
                <a:latin typeface="Aptos Display"/>
                <a:ea typeface="Aptos Display" pitchFamily="34" charset="-122"/>
                <a:cs typeface="Aptos Display" pitchFamily="34" charset="-120"/>
              </a:rPr>
              <a:t> da pixel a Q-value</a:t>
            </a:r>
            <a:endParaRPr lang="en-US" sz="2500" dirty="0">
              <a:latin typeface="Aptos Display"/>
            </a:endParaRPr>
          </a:p>
        </p:txBody>
      </p:sp>
      <p:sp>
        <p:nvSpPr>
          <p:cNvPr id="4" name="Text 2"/>
          <p:cNvSpPr/>
          <p:nvPr/>
        </p:nvSpPr>
        <p:spPr>
          <a:xfrm>
            <a:off x="685800" y="1143000"/>
            <a:ext cx="9144000" cy="310896"/>
          </a:xfrm>
          <a:prstGeom prst="rect">
            <a:avLst/>
          </a:prstGeom>
          <a:noFill/>
          <a:ln/>
        </p:spPr>
        <p:txBody>
          <a:bodyPr wrap="square" lIns="0" tIns="0" rIns="0" bIns="0" rtlCol="0" anchor="ctr"/>
          <a:lstStyle/>
          <a:p>
            <a:pPr marL="0" indent="0">
              <a:buNone/>
            </a:pPr>
            <a:r>
              <a:rPr lang="en-US" sz="1600" b="1" dirty="0">
                <a:solidFill>
                  <a:srgbClr val="DCE4F2"/>
                </a:solidFill>
              </a:rPr>
              <a:t>La baseline implementa il ciclo DQN classico: replay buffer + target network + Huber loss.</a:t>
            </a:r>
            <a:endParaRPr lang="en-US" sz="1600" dirty="0"/>
          </a:p>
        </p:txBody>
      </p:sp>
      <p:sp>
        <p:nvSpPr>
          <p:cNvPr id="5" name="Shape 3"/>
          <p:cNvSpPr/>
          <p:nvPr/>
        </p:nvSpPr>
        <p:spPr>
          <a:xfrm>
            <a:off x="777240" y="2057400"/>
            <a:ext cx="1051560" cy="1143000"/>
          </a:xfrm>
          <a:prstGeom prst="roundRect">
            <a:avLst>
              <a:gd name="adj" fmla="val 8696"/>
            </a:avLst>
          </a:prstGeom>
          <a:solidFill>
            <a:srgbClr val="0E1D34"/>
          </a:solidFill>
          <a:ln w="12700">
            <a:solidFill>
              <a:srgbClr val="7DD3FC"/>
            </a:solidFill>
            <a:prstDash val="solid"/>
          </a:ln>
        </p:spPr>
      </p:sp>
      <p:sp>
        <p:nvSpPr>
          <p:cNvPr id="6" name="Text 4"/>
          <p:cNvSpPr/>
          <p:nvPr/>
        </p:nvSpPr>
        <p:spPr>
          <a:xfrm>
            <a:off x="850392" y="2258568"/>
            <a:ext cx="905256" cy="402336"/>
          </a:xfrm>
          <a:prstGeom prst="rect">
            <a:avLst/>
          </a:prstGeom>
          <a:noFill/>
          <a:ln/>
        </p:spPr>
        <p:txBody>
          <a:bodyPr wrap="square" lIns="0" tIns="0" rIns="0" bIns="0" rtlCol="0" anchor="ctr">
            <a:normAutofit/>
          </a:bodyPr>
          <a:lstStyle/>
          <a:p>
            <a:pPr marL="0" indent="0" algn="ctr">
              <a:buNone/>
            </a:pPr>
            <a:r>
              <a:rPr lang="en-US" sz="1140" b="1" dirty="0">
                <a:solidFill>
                  <a:srgbClr val="F8FAFC"/>
                </a:solidFill>
              </a:rPr>
              <a:t>4×84×84</a:t>
            </a:r>
            <a:endParaRPr lang="en-US" sz="1140" dirty="0"/>
          </a:p>
        </p:txBody>
      </p:sp>
      <p:sp>
        <p:nvSpPr>
          <p:cNvPr id="7" name="Text 5"/>
          <p:cNvSpPr/>
          <p:nvPr/>
        </p:nvSpPr>
        <p:spPr>
          <a:xfrm>
            <a:off x="850392" y="2770632"/>
            <a:ext cx="905256" cy="256032"/>
          </a:xfrm>
          <a:prstGeom prst="rect">
            <a:avLst/>
          </a:prstGeom>
          <a:noFill/>
          <a:ln/>
        </p:spPr>
        <p:txBody>
          <a:bodyPr wrap="square" lIns="0" tIns="0" rIns="0" bIns="0" rtlCol="0" anchor="ctr">
            <a:normAutofit/>
          </a:bodyPr>
          <a:lstStyle/>
          <a:p>
            <a:pPr marL="0" indent="0" algn="ctr">
              <a:buNone/>
            </a:pPr>
            <a:r>
              <a:rPr lang="en-US" sz="780" dirty="0">
                <a:solidFill>
                  <a:srgbClr val="94A3B8"/>
                </a:solidFill>
              </a:rPr>
              <a:t>stack frame</a:t>
            </a:r>
            <a:endParaRPr lang="en-US" sz="780" dirty="0"/>
          </a:p>
        </p:txBody>
      </p:sp>
      <p:sp>
        <p:nvSpPr>
          <p:cNvPr id="8" name="Shape 6"/>
          <p:cNvSpPr/>
          <p:nvPr/>
        </p:nvSpPr>
        <p:spPr>
          <a:xfrm>
            <a:off x="1874520" y="2624328"/>
            <a:ext cx="283464" cy="0"/>
          </a:xfrm>
          <a:prstGeom prst="line">
            <a:avLst/>
          </a:prstGeom>
          <a:noFill/>
          <a:ln w="17780">
            <a:solidFill>
              <a:srgbClr val="94A3B8">
                <a:alpha val="90000"/>
              </a:srgbClr>
            </a:solidFill>
            <a:prstDash val="solid"/>
            <a:tailEnd type="triangle"/>
          </a:ln>
        </p:spPr>
      </p:sp>
      <p:sp>
        <p:nvSpPr>
          <p:cNvPr id="9" name="Shape 7"/>
          <p:cNvSpPr/>
          <p:nvPr/>
        </p:nvSpPr>
        <p:spPr>
          <a:xfrm>
            <a:off x="2212848" y="2057400"/>
            <a:ext cx="1143000" cy="1143000"/>
          </a:xfrm>
          <a:prstGeom prst="roundRect">
            <a:avLst>
              <a:gd name="adj" fmla="val 8000"/>
            </a:avLst>
          </a:prstGeom>
          <a:solidFill>
            <a:srgbClr val="111936"/>
          </a:solidFill>
          <a:ln w="12700">
            <a:solidFill>
              <a:srgbClr val="26314F"/>
            </a:solidFill>
            <a:prstDash val="solid"/>
          </a:ln>
        </p:spPr>
      </p:sp>
      <p:sp>
        <p:nvSpPr>
          <p:cNvPr id="10" name="Text 8"/>
          <p:cNvSpPr/>
          <p:nvPr/>
        </p:nvSpPr>
        <p:spPr>
          <a:xfrm>
            <a:off x="2286000" y="2258568"/>
            <a:ext cx="996696" cy="402336"/>
          </a:xfrm>
          <a:prstGeom prst="rect">
            <a:avLst/>
          </a:prstGeom>
          <a:noFill/>
          <a:ln/>
        </p:spPr>
        <p:txBody>
          <a:bodyPr wrap="square" lIns="0" tIns="0" rIns="0" bIns="0" rtlCol="0" anchor="ctr">
            <a:normAutofit/>
          </a:bodyPr>
          <a:lstStyle/>
          <a:p>
            <a:pPr marL="0" indent="0" algn="ctr">
              <a:buNone/>
            </a:pPr>
            <a:r>
              <a:rPr lang="en-US" sz="1140" b="1" dirty="0">
                <a:solidFill>
                  <a:srgbClr val="F8FAFC"/>
                </a:solidFill>
              </a:rPr>
              <a:t>Conv 8×8</a:t>
            </a:r>
            <a:endParaRPr lang="en-US" sz="1140" dirty="0"/>
          </a:p>
          <a:p>
            <a:pPr marL="0" indent="0" algn="ctr">
              <a:buNone/>
            </a:pPr>
            <a:r>
              <a:rPr lang="en-US" sz="1140" b="1" dirty="0">
                <a:solidFill>
                  <a:srgbClr val="F8FAFC"/>
                </a:solidFill>
              </a:rPr>
              <a:t>32 filters</a:t>
            </a:r>
            <a:endParaRPr lang="en-US" sz="1140" dirty="0"/>
          </a:p>
        </p:txBody>
      </p:sp>
      <p:sp>
        <p:nvSpPr>
          <p:cNvPr id="11" name="Text 9"/>
          <p:cNvSpPr/>
          <p:nvPr/>
        </p:nvSpPr>
        <p:spPr>
          <a:xfrm>
            <a:off x="2286000" y="2770632"/>
            <a:ext cx="996696" cy="256032"/>
          </a:xfrm>
          <a:prstGeom prst="rect">
            <a:avLst/>
          </a:prstGeom>
          <a:noFill/>
          <a:ln/>
        </p:spPr>
        <p:txBody>
          <a:bodyPr wrap="square" lIns="0" tIns="0" rIns="0" bIns="0" rtlCol="0" anchor="ctr">
            <a:normAutofit/>
          </a:bodyPr>
          <a:lstStyle/>
          <a:p>
            <a:pPr marL="0" indent="0" algn="ctr">
              <a:buNone/>
            </a:pPr>
            <a:r>
              <a:rPr lang="en-US" sz="780" dirty="0">
                <a:solidFill>
                  <a:srgbClr val="94A3B8"/>
                </a:solidFill>
              </a:rPr>
              <a:t>stride 4</a:t>
            </a:r>
            <a:endParaRPr lang="en-US" sz="780" dirty="0"/>
          </a:p>
        </p:txBody>
      </p:sp>
      <p:sp>
        <p:nvSpPr>
          <p:cNvPr id="12" name="Shape 10"/>
          <p:cNvSpPr/>
          <p:nvPr/>
        </p:nvSpPr>
        <p:spPr>
          <a:xfrm>
            <a:off x="3401568" y="2624328"/>
            <a:ext cx="283464" cy="0"/>
          </a:xfrm>
          <a:prstGeom prst="line">
            <a:avLst/>
          </a:prstGeom>
          <a:noFill/>
          <a:ln w="17780">
            <a:solidFill>
              <a:srgbClr val="94A3B8">
                <a:alpha val="90000"/>
              </a:srgbClr>
            </a:solidFill>
            <a:prstDash val="solid"/>
            <a:tailEnd type="triangle"/>
          </a:ln>
        </p:spPr>
      </p:sp>
      <p:sp>
        <p:nvSpPr>
          <p:cNvPr id="13" name="Shape 11"/>
          <p:cNvSpPr/>
          <p:nvPr/>
        </p:nvSpPr>
        <p:spPr>
          <a:xfrm>
            <a:off x="3749040" y="2057400"/>
            <a:ext cx="1143000" cy="1143000"/>
          </a:xfrm>
          <a:prstGeom prst="roundRect">
            <a:avLst>
              <a:gd name="adj" fmla="val 8000"/>
            </a:avLst>
          </a:prstGeom>
          <a:solidFill>
            <a:srgbClr val="111936"/>
          </a:solidFill>
          <a:ln w="12700">
            <a:solidFill>
              <a:srgbClr val="26314F"/>
            </a:solidFill>
            <a:prstDash val="solid"/>
          </a:ln>
        </p:spPr>
      </p:sp>
      <p:sp>
        <p:nvSpPr>
          <p:cNvPr id="14" name="Text 12"/>
          <p:cNvSpPr/>
          <p:nvPr/>
        </p:nvSpPr>
        <p:spPr>
          <a:xfrm>
            <a:off x="3822192" y="2258568"/>
            <a:ext cx="996696" cy="402336"/>
          </a:xfrm>
          <a:prstGeom prst="rect">
            <a:avLst/>
          </a:prstGeom>
          <a:noFill/>
          <a:ln/>
        </p:spPr>
        <p:txBody>
          <a:bodyPr wrap="square" lIns="0" tIns="0" rIns="0" bIns="0" rtlCol="0" anchor="ctr">
            <a:normAutofit/>
          </a:bodyPr>
          <a:lstStyle/>
          <a:p>
            <a:pPr marL="0" indent="0" algn="ctr">
              <a:buNone/>
            </a:pPr>
            <a:r>
              <a:rPr lang="en-US" sz="1140" b="1" dirty="0">
                <a:solidFill>
                  <a:srgbClr val="F8FAFC"/>
                </a:solidFill>
              </a:rPr>
              <a:t>Conv 4×4</a:t>
            </a:r>
            <a:endParaRPr lang="en-US" sz="1140" dirty="0"/>
          </a:p>
          <a:p>
            <a:pPr marL="0" indent="0" algn="ctr">
              <a:buNone/>
            </a:pPr>
            <a:r>
              <a:rPr lang="en-US" sz="1140" b="1" dirty="0">
                <a:solidFill>
                  <a:srgbClr val="F8FAFC"/>
                </a:solidFill>
              </a:rPr>
              <a:t>64 filters</a:t>
            </a:r>
            <a:endParaRPr lang="en-US" sz="1140" dirty="0"/>
          </a:p>
        </p:txBody>
      </p:sp>
      <p:sp>
        <p:nvSpPr>
          <p:cNvPr id="15" name="Text 13"/>
          <p:cNvSpPr/>
          <p:nvPr/>
        </p:nvSpPr>
        <p:spPr>
          <a:xfrm>
            <a:off x="3822192" y="2770632"/>
            <a:ext cx="996696" cy="256032"/>
          </a:xfrm>
          <a:prstGeom prst="rect">
            <a:avLst/>
          </a:prstGeom>
          <a:noFill/>
          <a:ln/>
        </p:spPr>
        <p:txBody>
          <a:bodyPr wrap="square" lIns="0" tIns="0" rIns="0" bIns="0" rtlCol="0" anchor="ctr">
            <a:normAutofit/>
          </a:bodyPr>
          <a:lstStyle/>
          <a:p>
            <a:pPr marL="0" indent="0" algn="ctr">
              <a:buNone/>
            </a:pPr>
            <a:r>
              <a:rPr lang="en-US" sz="780" dirty="0">
                <a:solidFill>
                  <a:srgbClr val="94A3B8"/>
                </a:solidFill>
              </a:rPr>
              <a:t>stride 2</a:t>
            </a:r>
            <a:endParaRPr lang="en-US" sz="780" dirty="0"/>
          </a:p>
        </p:txBody>
      </p:sp>
      <p:sp>
        <p:nvSpPr>
          <p:cNvPr id="16" name="Shape 14"/>
          <p:cNvSpPr/>
          <p:nvPr/>
        </p:nvSpPr>
        <p:spPr>
          <a:xfrm>
            <a:off x="4937760" y="2624328"/>
            <a:ext cx="283464" cy="0"/>
          </a:xfrm>
          <a:prstGeom prst="line">
            <a:avLst/>
          </a:prstGeom>
          <a:noFill/>
          <a:ln w="17780">
            <a:solidFill>
              <a:srgbClr val="94A3B8">
                <a:alpha val="90000"/>
              </a:srgbClr>
            </a:solidFill>
            <a:prstDash val="solid"/>
            <a:tailEnd type="triangle"/>
          </a:ln>
        </p:spPr>
      </p:sp>
      <p:sp>
        <p:nvSpPr>
          <p:cNvPr id="17" name="Shape 15"/>
          <p:cNvSpPr/>
          <p:nvPr/>
        </p:nvSpPr>
        <p:spPr>
          <a:xfrm>
            <a:off x="5285232" y="2057400"/>
            <a:ext cx="1143000" cy="1143000"/>
          </a:xfrm>
          <a:prstGeom prst="roundRect">
            <a:avLst>
              <a:gd name="adj" fmla="val 8000"/>
            </a:avLst>
          </a:prstGeom>
          <a:solidFill>
            <a:srgbClr val="111936"/>
          </a:solidFill>
          <a:ln w="12700">
            <a:solidFill>
              <a:srgbClr val="26314F"/>
            </a:solidFill>
            <a:prstDash val="solid"/>
          </a:ln>
        </p:spPr>
      </p:sp>
      <p:sp>
        <p:nvSpPr>
          <p:cNvPr id="18" name="Text 16"/>
          <p:cNvSpPr/>
          <p:nvPr/>
        </p:nvSpPr>
        <p:spPr>
          <a:xfrm>
            <a:off x="5358384" y="2258568"/>
            <a:ext cx="996696" cy="402336"/>
          </a:xfrm>
          <a:prstGeom prst="rect">
            <a:avLst/>
          </a:prstGeom>
          <a:noFill/>
          <a:ln/>
        </p:spPr>
        <p:txBody>
          <a:bodyPr wrap="square" lIns="0" tIns="0" rIns="0" bIns="0" rtlCol="0" anchor="ctr">
            <a:normAutofit/>
          </a:bodyPr>
          <a:lstStyle/>
          <a:p>
            <a:pPr marL="0" indent="0" algn="ctr">
              <a:buNone/>
            </a:pPr>
            <a:r>
              <a:rPr lang="en-US" sz="1140" b="1" dirty="0">
                <a:solidFill>
                  <a:srgbClr val="F8FAFC"/>
                </a:solidFill>
              </a:rPr>
              <a:t>Conv 3×3</a:t>
            </a:r>
            <a:endParaRPr lang="en-US" sz="1140" dirty="0"/>
          </a:p>
          <a:p>
            <a:pPr marL="0" indent="0" algn="ctr">
              <a:buNone/>
            </a:pPr>
            <a:r>
              <a:rPr lang="en-US" sz="1140" b="1" dirty="0">
                <a:solidFill>
                  <a:srgbClr val="F8FAFC"/>
                </a:solidFill>
              </a:rPr>
              <a:t>64 filters</a:t>
            </a:r>
            <a:endParaRPr lang="en-US" sz="1140" dirty="0"/>
          </a:p>
        </p:txBody>
      </p:sp>
      <p:sp>
        <p:nvSpPr>
          <p:cNvPr id="19" name="Text 17"/>
          <p:cNvSpPr/>
          <p:nvPr/>
        </p:nvSpPr>
        <p:spPr>
          <a:xfrm>
            <a:off x="5358384" y="2770632"/>
            <a:ext cx="996696" cy="256032"/>
          </a:xfrm>
          <a:prstGeom prst="rect">
            <a:avLst/>
          </a:prstGeom>
          <a:noFill/>
          <a:ln/>
        </p:spPr>
        <p:txBody>
          <a:bodyPr wrap="square" lIns="0" tIns="0" rIns="0" bIns="0" rtlCol="0" anchor="ctr">
            <a:normAutofit/>
          </a:bodyPr>
          <a:lstStyle/>
          <a:p>
            <a:pPr marL="0" indent="0" algn="ctr">
              <a:buNone/>
            </a:pPr>
            <a:r>
              <a:rPr lang="en-US" sz="780" dirty="0">
                <a:solidFill>
                  <a:srgbClr val="94A3B8"/>
                </a:solidFill>
              </a:rPr>
              <a:t>stride 1</a:t>
            </a:r>
            <a:endParaRPr lang="en-US" sz="780" dirty="0"/>
          </a:p>
        </p:txBody>
      </p:sp>
      <p:sp>
        <p:nvSpPr>
          <p:cNvPr id="20" name="Shape 18"/>
          <p:cNvSpPr/>
          <p:nvPr/>
        </p:nvSpPr>
        <p:spPr>
          <a:xfrm>
            <a:off x="6473952" y="2624328"/>
            <a:ext cx="283464" cy="0"/>
          </a:xfrm>
          <a:prstGeom prst="line">
            <a:avLst/>
          </a:prstGeom>
          <a:noFill/>
          <a:ln w="17780">
            <a:solidFill>
              <a:srgbClr val="94A3B8">
                <a:alpha val="90000"/>
              </a:srgbClr>
            </a:solidFill>
            <a:prstDash val="solid"/>
            <a:tailEnd type="triangle"/>
          </a:ln>
        </p:spPr>
      </p:sp>
      <p:sp>
        <p:nvSpPr>
          <p:cNvPr id="21" name="Shape 19"/>
          <p:cNvSpPr/>
          <p:nvPr/>
        </p:nvSpPr>
        <p:spPr>
          <a:xfrm>
            <a:off x="6812280" y="2057400"/>
            <a:ext cx="914400" cy="1143000"/>
          </a:xfrm>
          <a:prstGeom prst="roundRect">
            <a:avLst>
              <a:gd name="adj" fmla="val 10000"/>
            </a:avLst>
          </a:prstGeom>
          <a:solidFill>
            <a:srgbClr val="111936"/>
          </a:solidFill>
          <a:ln w="12700">
            <a:solidFill>
              <a:srgbClr val="26314F"/>
            </a:solidFill>
            <a:prstDash val="solid"/>
          </a:ln>
        </p:spPr>
      </p:sp>
      <p:sp>
        <p:nvSpPr>
          <p:cNvPr id="22" name="Text 20"/>
          <p:cNvSpPr/>
          <p:nvPr/>
        </p:nvSpPr>
        <p:spPr>
          <a:xfrm>
            <a:off x="6885432" y="2258568"/>
            <a:ext cx="768096" cy="402336"/>
          </a:xfrm>
          <a:prstGeom prst="rect">
            <a:avLst/>
          </a:prstGeom>
          <a:noFill/>
          <a:ln/>
        </p:spPr>
        <p:txBody>
          <a:bodyPr wrap="square" lIns="0" tIns="0" rIns="0" bIns="0" rtlCol="0" anchor="ctr">
            <a:normAutofit/>
          </a:bodyPr>
          <a:lstStyle/>
          <a:p>
            <a:pPr marL="0" indent="0" algn="ctr">
              <a:buNone/>
            </a:pPr>
            <a:r>
              <a:rPr lang="en-US" sz="1140" b="1" dirty="0">
                <a:solidFill>
                  <a:srgbClr val="F8FAFC"/>
                </a:solidFill>
              </a:rPr>
              <a:t>FC 512</a:t>
            </a:r>
            <a:endParaRPr lang="en-US" sz="1140" dirty="0"/>
          </a:p>
        </p:txBody>
      </p:sp>
      <p:sp>
        <p:nvSpPr>
          <p:cNvPr id="23" name="Text 21"/>
          <p:cNvSpPr/>
          <p:nvPr/>
        </p:nvSpPr>
        <p:spPr>
          <a:xfrm>
            <a:off x="6885432" y="2770632"/>
            <a:ext cx="768096" cy="256032"/>
          </a:xfrm>
          <a:prstGeom prst="rect">
            <a:avLst/>
          </a:prstGeom>
          <a:noFill/>
          <a:ln/>
        </p:spPr>
        <p:txBody>
          <a:bodyPr wrap="square" lIns="0" tIns="0" rIns="0" bIns="0" rtlCol="0" anchor="ctr">
            <a:normAutofit/>
          </a:bodyPr>
          <a:lstStyle/>
          <a:p>
            <a:pPr marL="0" indent="0" algn="ctr">
              <a:buNone/>
            </a:pPr>
            <a:r>
              <a:rPr lang="en-US" sz="780" dirty="0">
                <a:solidFill>
                  <a:srgbClr val="94A3B8"/>
                </a:solidFill>
              </a:rPr>
              <a:t>ReLU</a:t>
            </a:r>
            <a:endParaRPr lang="en-US" sz="780" dirty="0"/>
          </a:p>
        </p:txBody>
      </p:sp>
      <p:sp>
        <p:nvSpPr>
          <p:cNvPr id="24" name="Shape 22"/>
          <p:cNvSpPr/>
          <p:nvPr/>
        </p:nvSpPr>
        <p:spPr>
          <a:xfrm>
            <a:off x="7772400" y="2624328"/>
            <a:ext cx="283464" cy="0"/>
          </a:xfrm>
          <a:prstGeom prst="line">
            <a:avLst/>
          </a:prstGeom>
          <a:noFill/>
          <a:ln w="17780">
            <a:solidFill>
              <a:srgbClr val="94A3B8">
                <a:alpha val="90000"/>
              </a:srgbClr>
            </a:solidFill>
            <a:prstDash val="solid"/>
            <a:tailEnd type="triangle"/>
          </a:ln>
        </p:spPr>
      </p:sp>
      <p:sp>
        <p:nvSpPr>
          <p:cNvPr id="25" name="Shape 23"/>
          <p:cNvSpPr/>
          <p:nvPr/>
        </p:nvSpPr>
        <p:spPr>
          <a:xfrm>
            <a:off x="8321040" y="2057400"/>
            <a:ext cx="1417320" cy="1143000"/>
          </a:xfrm>
          <a:prstGeom prst="roundRect">
            <a:avLst>
              <a:gd name="adj" fmla="val 8000"/>
            </a:avLst>
          </a:prstGeom>
          <a:solidFill>
            <a:srgbClr val="1A163B"/>
          </a:solidFill>
          <a:ln w="12700">
            <a:solidFill>
              <a:srgbClr val="A78BFA"/>
            </a:solidFill>
            <a:prstDash val="solid"/>
          </a:ln>
        </p:spPr>
      </p:sp>
      <p:sp>
        <p:nvSpPr>
          <p:cNvPr id="26" name="Text 24"/>
          <p:cNvSpPr/>
          <p:nvPr/>
        </p:nvSpPr>
        <p:spPr>
          <a:xfrm>
            <a:off x="8394192" y="2258568"/>
            <a:ext cx="1271016" cy="402336"/>
          </a:xfrm>
          <a:prstGeom prst="rect">
            <a:avLst/>
          </a:prstGeom>
          <a:noFill/>
          <a:ln/>
        </p:spPr>
        <p:txBody>
          <a:bodyPr wrap="square" lIns="0" tIns="0" rIns="0" bIns="0" rtlCol="0" anchor="ctr">
            <a:normAutofit/>
          </a:bodyPr>
          <a:lstStyle/>
          <a:p>
            <a:pPr marL="0" indent="0" algn="ctr">
              <a:buNone/>
            </a:pPr>
            <a:r>
              <a:rPr lang="en-US" sz="1140" b="1" dirty="0">
                <a:solidFill>
                  <a:srgbClr val="F8FAFC"/>
                </a:solidFill>
              </a:rPr>
              <a:t>Q(NOOP)</a:t>
            </a:r>
            <a:endParaRPr lang="en-US" sz="1140" dirty="0"/>
          </a:p>
          <a:p>
            <a:pPr marL="0" indent="0" algn="ctr">
              <a:buNone/>
            </a:pPr>
            <a:r>
              <a:rPr lang="en-US" sz="1140" b="1" dirty="0">
                <a:solidFill>
                  <a:srgbClr val="F8FAFC"/>
                </a:solidFill>
              </a:rPr>
              <a:t>Q(UP)</a:t>
            </a:r>
            <a:endParaRPr lang="en-US" sz="1140" dirty="0"/>
          </a:p>
          <a:p>
            <a:pPr marL="0" indent="0" algn="ctr">
              <a:buNone/>
            </a:pPr>
            <a:r>
              <a:rPr lang="en-US" sz="1140" b="1" dirty="0">
                <a:solidFill>
                  <a:srgbClr val="F8FAFC"/>
                </a:solidFill>
              </a:rPr>
              <a:t>Q(DOWN)</a:t>
            </a:r>
            <a:endParaRPr lang="en-US" sz="1140" dirty="0"/>
          </a:p>
        </p:txBody>
      </p:sp>
      <p:sp>
        <p:nvSpPr>
          <p:cNvPr id="27" name="Text 25"/>
          <p:cNvSpPr/>
          <p:nvPr/>
        </p:nvSpPr>
        <p:spPr>
          <a:xfrm>
            <a:off x="8394192" y="2770632"/>
            <a:ext cx="1271016" cy="256032"/>
          </a:xfrm>
          <a:prstGeom prst="rect">
            <a:avLst/>
          </a:prstGeom>
          <a:noFill/>
          <a:ln/>
        </p:spPr>
        <p:txBody>
          <a:bodyPr wrap="square" lIns="0" tIns="0" rIns="0" bIns="0" rtlCol="0" anchor="ctr">
            <a:normAutofit/>
          </a:bodyPr>
          <a:lstStyle/>
          <a:p>
            <a:pPr marL="0" indent="0" algn="ctr">
              <a:buNone/>
            </a:pPr>
            <a:r>
              <a:rPr lang="en-US" sz="780" dirty="0">
                <a:solidFill>
                  <a:srgbClr val="94A3B8"/>
                </a:solidFill>
              </a:rPr>
              <a:t>3 azioni</a:t>
            </a:r>
            <a:endParaRPr lang="en-US" sz="780" dirty="0"/>
          </a:p>
        </p:txBody>
      </p:sp>
      <p:sp>
        <p:nvSpPr>
          <p:cNvPr id="28" name="Shape 26"/>
          <p:cNvSpPr/>
          <p:nvPr/>
        </p:nvSpPr>
        <p:spPr>
          <a:xfrm>
            <a:off x="868680" y="4005072"/>
            <a:ext cx="3986784" cy="1353312"/>
          </a:xfrm>
          <a:prstGeom prst="roundRect">
            <a:avLst>
              <a:gd name="adj" fmla="val 6757"/>
            </a:avLst>
          </a:prstGeom>
          <a:solidFill>
            <a:srgbClr val="0E1631"/>
          </a:solidFill>
          <a:ln w="12700">
            <a:solidFill>
              <a:srgbClr val="7DD3FC">
                <a:alpha val="60000"/>
              </a:srgbClr>
            </a:solidFill>
            <a:prstDash val="solid"/>
          </a:ln>
        </p:spPr>
      </p:sp>
      <p:sp>
        <p:nvSpPr>
          <p:cNvPr id="29" name="Text 27"/>
          <p:cNvSpPr/>
          <p:nvPr/>
        </p:nvSpPr>
        <p:spPr>
          <a:xfrm>
            <a:off x="1033272" y="4151376"/>
            <a:ext cx="3657600" cy="1060704"/>
          </a:xfrm>
          <a:prstGeom prst="rect">
            <a:avLst/>
          </a:prstGeom>
          <a:noFill/>
          <a:ln/>
        </p:spPr>
        <p:txBody>
          <a:bodyPr wrap="square" lIns="0" tIns="0" rIns="0" bIns="0" rtlCol="0" anchor="ctr">
            <a:normAutofit/>
          </a:bodyPr>
          <a:lstStyle/>
          <a:p>
            <a:pPr marL="0" indent="0">
              <a:buNone/>
            </a:pPr>
            <a:endParaRPr lang="en-US" sz="1250" dirty="0"/>
          </a:p>
        </p:txBody>
      </p:sp>
      <p:sp>
        <p:nvSpPr>
          <p:cNvPr id="30" name="Text 28"/>
          <p:cNvSpPr/>
          <p:nvPr/>
        </p:nvSpPr>
        <p:spPr>
          <a:xfrm>
            <a:off x="1033272" y="5038344"/>
            <a:ext cx="3657600" cy="164592"/>
          </a:xfrm>
          <a:prstGeom prst="rect">
            <a:avLst/>
          </a:prstGeom>
          <a:noFill/>
          <a:ln/>
        </p:spPr>
        <p:txBody>
          <a:bodyPr wrap="square" lIns="0" tIns="0" rIns="0" bIns="0" rtlCol="0" anchor="ctr">
            <a:normAutofit/>
          </a:bodyPr>
          <a:lstStyle/>
          <a:p>
            <a:pPr algn="l"/>
            <a:r>
              <a:rPr sz="800">
                <a:solidFill>
                  <a:srgbClr val="94A3B8"/>
                </a:solidFill>
                <a:latin typeface="Arial"/>
              </a:rPr>
              <a:t>target DQN + Huber loss</a:t>
            </a:r>
          </a:p>
        </p:txBody>
      </p:sp>
      <p:sp>
        <p:nvSpPr>
          <p:cNvPr id="31" name="Shape 29"/>
          <p:cNvSpPr/>
          <p:nvPr/>
        </p:nvSpPr>
        <p:spPr>
          <a:xfrm>
            <a:off x="5577840" y="4005072"/>
            <a:ext cx="5074920" cy="1353312"/>
          </a:xfrm>
          <a:prstGeom prst="roundRect">
            <a:avLst>
              <a:gd name="adj" fmla="val 6757"/>
            </a:avLst>
          </a:prstGeom>
          <a:solidFill>
            <a:srgbClr val="0D1630"/>
          </a:solidFill>
          <a:ln w="12700">
            <a:solidFill>
              <a:srgbClr val="86EFAC">
                <a:alpha val="75000"/>
              </a:srgbClr>
            </a:solidFill>
            <a:prstDash val="solid"/>
          </a:ln>
        </p:spPr>
      </p:sp>
      <p:sp>
        <p:nvSpPr>
          <p:cNvPr id="32" name="Text 30"/>
          <p:cNvSpPr/>
          <p:nvPr/>
        </p:nvSpPr>
        <p:spPr>
          <a:xfrm>
            <a:off x="5797296" y="4187952"/>
            <a:ext cx="2560320" cy="237744"/>
          </a:xfrm>
          <a:prstGeom prst="rect">
            <a:avLst/>
          </a:prstGeom>
          <a:noFill/>
          <a:ln/>
        </p:spPr>
        <p:txBody>
          <a:bodyPr wrap="square" lIns="0" tIns="0" rIns="0" bIns="0" rtlCol="0" anchor="ctr"/>
          <a:lstStyle/>
          <a:p>
            <a:pPr marL="0" indent="0">
              <a:buNone/>
            </a:pPr>
            <a:r>
              <a:rPr lang="en-US" sz="1500" b="1" dirty="0">
                <a:solidFill>
                  <a:srgbClr val="86EFAC"/>
                </a:solidFill>
              </a:rPr>
              <a:t>Scelte progettuali</a:t>
            </a:r>
            <a:endParaRPr lang="en-US" sz="1500" dirty="0"/>
          </a:p>
        </p:txBody>
      </p:sp>
      <p:sp>
        <p:nvSpPr>
          <p:cNvPr id="33" name="Text 31"/>
          <p:cNvSpPr/>
          <p:nvPr/>
        </p:nvSpPr>
        <p:spPr>
          <a:xfrm>
            <a:off x="5815584" y="4572000"/>
            <a:ext cx="4462272" cy="530352"/>
          </a:xfrm>
          <a:prstGeom prst="rect">
            <a:avLst/>
          </a:prstGeom>
          <a:noFill/>
          <a:ln/>
        </p:spPr>
        <p:txBody>
          <a:bodyPr wrap="square" lIns="0" tIns="0" rIns="0" bIns="0" rtlCol="0" anchor="ctr">
            <a:normAutofit/>
          </a:bodyPr>
          <a:lstStyle/>
          <a:p>
            <a:pPr marL="0" indent="0">
              <a:buNone/>
            </a:pPr>
            <a:r>
              <a:rPr lang="en-US" sz="1070" dirty="0">
                <a:solidFill>
                  <a:srgbClr val="DCE4F2"/>
                </a:solidFill>
              </a:rPr>
              <a:t>• target network separata: riduce instabilità del bootstrap</a:t>
            </a:r>
            <a:endParaRPr lang="en-US" sz="1070" dirty="0"/>
          </a:p>
          <a:p>
            <a:pPr marL="0" indent="0">
              <a:buNone/>
            </a:pPr>
            <a:r>
              <a:rPr lang="en-US" sz="1070" dirty="0">
                <a:solidFill>
                  <a:srgbClr val="DCE4F2"/>
                </a:solidFill>
              </a:rPr>
              <a:t>• replay buffer: rompe correlazioni temporali dei frame</a:t>
            </a:r>
            <a:endParaRPr lang="en-US" sz="1070" dirty="0"/>
          </a:p>
          <a:p>
            <a:pPr marL="0" indent="0">
              <a:buNone/>
            </a:pPr>
            <a:r>
              <a:rPr lang="en-US" sz="1070" dirty="0">
                <a:solidFill>
                  <a:srgbClr val="DCE4F2"/>
                </a:solidFill>
              </a:rPr>
              <a:t>• Huber/SmoothL1: meno sensibile a TD error molto grandi</a:t>
            </a:r>
            <a:endParaRPr lang="en-US" sz="1070" dirty="0"/>
          </a:p>
        </p:txBody>
      </p:sp>
      <p:sp>
        <p:nvSpPr>
          <p:cNvPr id="3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E7897"/>
                </a:solidFill>
              </a:defRPr>
            </a:lvl1pPr>
          </a:lstStyle>
          <a:p>
            <a:pPr algn="l"/>
            <a:fld id="{F7021451-1387-4CA6-816F-3879F97B5CBC}" type="slidenum">
              <a:rPr lang="en-US" b="0"/>
              <a:t>4</a:t>
            </a:fld>
            <a:endParaRPr lang="en-US"/>
          </a:p>
        </p:txBody>
      </p:sp>
      <p:pic>
        <p:nvPicPr>
          <p:cNvPr id="36" name="Picture 35" descr="dqn_target.png"/>
          <p:cNvPicPr>
            <a:picLocks noChangeAspect="1"/>
          </p:cNvPicPr>
          <p:nvPr/>
        </p:nvPicPr>
        <p:blipFill>
          <a:blip r:embed="rId3"/>
          <a:stretch>
            <a:fillRect/>
          </a:stretch>
        </p:blipFill>
        <p:spPr>
          <a:xfrm>
            <a:off x="1033271" y="4242816"/>
            <a:ext cx="3611880" cy="7356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658368" y="256032"/>
            <a:ext cx="10789920" cy="237744"/>
          </a:xfrm>
          <a:prstGeom prst="rect">
            <a:avLst/>
          </a:prstGeom>
          <a:noFill/>
          <a:ln/>
        </p:spPr>
        <p:txBody>
          <a:bodyPr wrap="square" lIns="0" tIns="0" rIns="0" bIns="0" rtlCol="0" anchor="ctr"/>
          <a:lstStyle/>
          <a:p>
            <a:r>
              <a:rPr lang="en-US" sz="850" b="1" dirty="0">
                <a:solidFill>
                  <a:srgbClr val="7DD3FC"/>
                </a:solidFill>
                <a:latin typeface="Aptos"/>
              </a:rPr>
              <a:t>VARIANTI</a:t>
            </a:r>
            <a:endParaRPr lang="en-US" sz="850" dirty="0">
              <a:latin typeface="Aptos"/>
            </a:endParaRPr>
          </a:p>
        </p:txBody>
      </p:sp>
      <p:sp>
        <p:nvSpPr>
          <p:cNvPr id="3" name="Text 1"/>
          <p:cNvSpPr/>
          <p:nvPr/>
        </p:nvSpPr>
        <p:spPr>
          <a:xfrm>
            <a:off x="658368" y="566928"/>
            <a:ext cx="10835640" cy="530352"/>
          </a:xfrm>
          <a:prstGeom prst="rect">
            <a:avLst/>
          </a:prstGeom>
          <a:noFill/>
          <a:ln/>
        </p:spPr>
        <p:txBody>
          <a:bodyPr wrap="square" lIns="0" tIns="0" rIns="0" bIns="0" rtlCol="0" anchor="ctr">
            <a:normAutofit/>
          </a:bodyPr>
          <a:lstStyle/>
          <a:p>
            <a:r>
              <a:rPr lang="en-US" sz="2500" b="1" dirty="0">
                <a:solidFill>
                  <a:srgbClr val="F8FAFC"/>
                </a:solidFill>
                <a:latin typeface="Aptos Display"/>
                <a:ea typeface="Aptos Display" pitchFamily="34" charset="-122"/>
                <a:cs typeface="Aptos Display" pitchFamily="34" charset="-120"/>
              </a:rPr>
              <a:t>Che </a:t>
            </a:r>
            <a:r>
              <a:rPr lang="en-US" sz="2500" b="1" dirty="0" err="1">
                <a:solidFill>
                  <a:srgbClr val="F8FAFC"/>
                </a:solidFill>
                <a:latin typeface="Aptos Display"/>
                <a:ea typeface="Aptos Display" pitchFamily="34" charset="-122"/>
                <a:cs typeface="Aptos Display" pitchFamily="34" charset="-120"/>
              </a:rPr>
              <a:t>cosa</a:t>
            </a:r>
            <a:r>
              <a:rPr lang="en-US" sz="2500" b="1" dirty="0">
                <a:solidFill>
                  <a:srgbClr val="F8FAFC"/>
                </a:solidFill>
                <a:latin typeface="Aptos Display"/>
                <a:ea typeface="Aptos Display" pitchFamily="34" charset="-122"/>
                <a:cs typeface="Aptos Display" pitchFamily="34" charset="-120"/>
              </a:rPr>
              <a:t> cambia rispetto alla baseline?</a:t>
            </a:r>
            <a:endParaRPr lang="en-US" sz="2500" dirty="0">
              <a:latin typeface="Aptos Display"/>
            </a:endParaRPr>
          </a:p>
        </p:txBody>
      </p:sp>
      <p:sp>
        <p:nvSpPr>
          <p:cNvPr id="4" name="Text 2"/>
          <p:cNvSpPr/>
          <p:nvPr/>
        </p:nvSpPr>
        <p:spPr>
          <a:xfrm>
            <a:off x="685800" y="1115568"/>
            <a:ext cx="9326880" cy="329184"/>
          </a:xfrm>
          <a:prstGeom prst="rect">
            <a:avLst/>
          </a:prstGeom>
          <a:noFill/>
          <a:ln/>
        </p:spPr>
        <p:txBody>
          <a:bodyPr wrap="square" lIns="0" tIns="0" rIns="0" bIns="0" rtlCol="0" anchor="ctr"/>
          <a:lstStyle/>
          <a:p>
            <a:r>
              <a:rPr lang="en-US" sz="1600" b="1" dirty="0">
                <a:solidFill>
                  <a:srgbClr val="DCE4F2"/>
                </a:solidFill>
              </a:rPr>
              <a:t>Tre </a:t>
            </a:r>
            <a:r>
              <a:rPr lang="en-US" sz="1600" b="1" dirty="0" err="1">
                <a:solidFill>
                  <a:srgbClr val="DCE4F2"/>
                </a:solidFill>
              </a:rPr>
              <a:t>famigle</a:t>
            </a:r>
            <a:r>
              <a:rPr lang="en-US" sz="1600" b="1" dirty="0">
                <a:solidFill>
                  <a:srgbClr val="DCE4F2"/>
                </a:solidFill>
              </a:rPr>
              <a:t> </a:t>
            </a:r>
            <a:r>
              <a:rPr lang="en-US" sz="1600" b="1" dirty="0" err="1">
                <a:solidFill>
                  <a:srgbClr val="DCE4F2"/>
                </a:solidFill>
              </a:rPr>
              <a:t>sperimentali</a:t>
            </a:r>
            <a:r>
              <a:rPr lang="en-US" sz="1600" b="1" dirty="0">
                <a:solidFill>
                  <a:srgbClr val="DCE4F2"/>
                </a:solidFill>
              </a:rPr>
              <a:t>, tutte </a:t>
            </a:r>
            <a:r>
              <a:rPr lang="en-US" sz="1600" b="1" dirty="0" err="1">
                <a:solidFill>
                  <a:srgbClr val="DCE4F2"/>
                </a:solidFill>
              </a:rPr>
              <a:t>valutate</a:t>
            </a:r>
            <a:r>
              <a:rPr lang="en-US" sz="1600" b="1" dirty="0">
                <a:solidFill>
                  <a:srgbClr val="DCE4F2"/>
                </a:solidFill>
              </a:rPr>
              <a:t> con lo </a:t>
            </a:r>
            <a:r>
              <a:rPr lang="en-US" sz="1600" b="1" dirty="0" err="1">
                <a:solidFill>
                  <a:srgbClr val="DCE4F2"/>
                </a:solidFill>
              </a:rPr>
              <a:t>stesso</a:t>
            </a:r>
            <a:r>
              <a:rPr lang="en-US" sz="1600" b="1" dirty="0">
                <a:solidFill>
                  <a:srgbClr val="DCE4F2"/>
                </a:solidFill>
              </a:rPr>
              <a:t> </a:t>
            </a:r>
            <a:r>
              <a:rPr lang="en-US" sz="1600" b="1" dirty="0" err="1">
                <a:solidFill>
                  <a:srgbClr val="DCE4F2"/>
                </a:solidFill>
              </a:rPr>
              <a:t>protocollo</a:t>
            </a:r>
            <a:r>
              <a:rPr lang="en-US" sz="1600" b="1" dirty="0">
                <a:solidFill>
                  <a:srgbClr val="DCE4F2"/>
                </a:solidFill>
              </a:rPr>
              <a:t> greedy </a:t>
            </a:r>
            <a:r>
              <a:rPr lang="en-US" sz="1600" b="1" dirty="0" err="1">
                <a:solidFill>
                  <a:srgbClr val="DCE4F2"/>
                </a:solidFill>
              </a:rPr>
              <a:t>sul</a:t>
            </a:r>
            <a:r>
              <a:rPr lang="en-US" sz="1600" b="1" dirty="0">
                <a:solidFill>
                  <a:srgbClr val="DCE4F2"/>
                </a:solidFill>
              </a:rPr>
              <a:t> reward Atari </a:t>
            </a:r>
            <a:r>
              <a:rPr lang="en-US" sz="1600" b="1" dirty="0" err="1">
                <a:solidFill>
                  <a:srgbClr val="DCE4F2"/>
                </a:solidFill>
              </a:rPr>
              <a:t>originale</a:t>
            </a:r>
            <a:r>
              <a:rPr lang="en-US" sz="1600" b="1" dirty="0">
                <a:solidFill>
                  <a:srgbClr val="DCE4F2"/>
                </a:solidFill>
              </a:rPr>
              <a:t>.</a:t>
            </a:r>
            <a:endParaRPr lang="en-US" sz="1600" dirty="0"/>
          </a:p>
        </p:txBody>
      </p:sp>
      <p:sp>
        <p:nvSpPr>
          <p:cNvPr id="5" name="Shape 3"/>
          <p:cNvSpPr/>
          <p:nvPr/>
        </p:nvSpPr>
        <p:spPr>
          <a:xfrm>
            <a:off x="713232" y="1847088"/>
            <a:ext cx="2999232" cy="3017520"/>
          </a:xfrm>
          <a:prstGeom prst="roundRect">
            <a:avLst>
              <a:gd name="adj" fmla="val 3049"/>
            </a:avLst>
          </a:prstGeom>
          <a:solidFill>
            <a:srgbClr val="0D1630"/>
          </a:solidFill>
          <a:ln w="12700">
            <a:solidFill>
              <a:srgbClr val="7DD3FC">
                <a:alpha val="75000"/>
              </a:srgbClr>
            </a:solidFill>
            <a:prstDash val="solid"/>
          </a:ln>
        </p:spPr>
      </p:sp>
      <p:sp>
        <p:nvSpPr>
          <p:cNvPr id="6" name="Text 4"/>
          <p:cNvSpPr/>
          <p:nvPr/>
        </p:nvSpPr>
        <p:spPr>
          <a:xfrm>
            <a:off x="914400" y="2075688"/>
            <a:ext cx="2596896" cy="219456"/>
          </a:xfrm>
          <a:prstGeom prst="rect">
            <a:avLst/>
          </a:prstGeom>
          <a:noFill/>
          <a:ln/>
        </p:spPr>
        <p:txBody>
          <a:bodyPr wrap="square" lIns="0" tIns="0" rIns="0" bIns="0" rtlCol="0" anchor="ctr"/>
          <a:lstStyle/>
          <a:p>
            <a:pPr marL="0" indent="0">
              <a:buNone/>
            </a:pPr>
            <a:r>
              <a:rPr lang="en-US" sz="1500" b="1" dirty="0">
                <a:solidFill>
                  <a:srgbClr val="7DD3FC"/>
                </a:solidFill>
              </a:rPr>
              <a:t>Target TD</a:t>
            </a:r>
            <a:endParaRPr lang="en-US" sz="1500" dirty="0"/>
          </a:p>
        </p:txBody>
      </p:sp>
      <p:sp>
        <p:nvSpPr>
          <p:cNvPr id="7" name="Text 5"/>
          <p:cNvSpPr/>
          <p:nvPr/>
        </p:nvSpPr>
        <p:spPr>
          <a:xfrm>
            <a:off x="914400" y="2514600"/>
            <a:ext cx="2596896" cy="274320"/>
          </a:xfrm>
          <a:prstGeom prst="rect">
            <a:avLst/>
          </a:prstGeom>
          <a:noFill/>
          <a:ln/>
        </p:spPr>
        <p:txBody>
          <a:bodyPr wrap="square" lIns="0" tIns="0" rIns="0" bIns="0" rtlCol="0" anchor="ctr">
            <a:normAutofit/>
          </a:bodyPr>
          <a:lstStyle/>
          <a:p>
            <a:pPr marL="0" indent="0">
              <a:buNone/>
            </a:pPr>
            <a:r>
              <a:rPr lang="en-US" sz="2000" b="1" dirty="0">
                <a:solidFill>
                  <a:srgbClr val="F8FAFC"/>
                </a:solidFill>
              </a:rPr>
              <a:t>Double DQN</a:t>
            </a:r>
            <a:endParaRPr lang="en-US" sz="2000" dirty="0"/>
          </a:p>
        </p:txBody>
      </p:sp>
      <p:sp>
        <p:nvSpPr>
          <p:cNvPr id="8" name="Text 6"/>
          <p:cNvSpPr/>
          <p:nvPr/>
        </p:nvSpPr>
        <p:spPr>
          <a:xfrm>
            <a:off x="914400" y="2907792"/>
            <a:ext cx="2596896" cy="292608"/>
          </a:xfrm>
          <a:prstGeom prst="rect">
            <a:avLst/>
          </a:prstGeom>
          <a:noFill/>
          <a:ln/>
        </p:spPr>
        <p:txBody>
          <a:bodyPr wrap="square" lIns="0" tIns="0" rIns="0" bIns="0" rtlCol="0" anchor="ctr">
            <a:normAutofit/>
          </a:bodyPr>
          <a:lstStyle/>
          <a:p>
            <a:pPr marL="0" indent="0">
              <a:buNone/>
            </a:pPr>
            <a:r>
              <a:rPr lang="en-US" sz="1020" dirty="0">
                <a:solidFill>
                  <a:srgbClr val="94A3B8"/>
                </a:solidFill>
              </a:rPr>
              <a:t>separa selezione e valutazione</a:t>
            </a:r>
            <a:endParaRPr lang="en-US" sz="1020" dirty="0"/>
          </a:p>
        </p:txBody>
      </p:sp>
      <p:sp>
        <p:nvSpPr>
          <p:cNvPr id="9" name="Shape 7"/>
          <p:cNvSpPr/>
          <p:nvPr/>
        </p:nvSpPr>
        <p:spPr>
          <a:xfrm>
            <a:off x="4242816" y="1847088"/>
            <a:ext cx="2999232" cy="3017520"/>
          </a:xfrm>
          <a:prstGeom prst="roundRect">
            <a:avLst>
              <a:gd name="adj" fmla="val 3049"/>
            </a:avLst>
          </a:prstGeom>
          <a:solidFill>
            <a:srgbClr val="0D1630"/>
          </a:solidFill>
          <a:ln w="12700">
            <a:solidFill>
              <a:srgbClr val="FCD34D">
                <a:alpha val="75000"/>
              </a:srgbClr>
            </a:solidFill>
            <a:prstDash val="solid"/>
          </a:ln>
        </p:spPr>
      </p:sp>
      <p:sp>
        <p:nvSpPr>
          <p:cNvPr id="10" name="Text 8"/>
          <p:cNvSpPr/>
          <p:nvPr/>
        </p:nvSpPr>
        <p:spPr>
          <a:xfrm>
            <a:off x="4443984" y="2075688"/>
            <a:ext cx="2596896" cy="219456"/>
          </a:xfrm>
          <a:prstGeom prst="rect">
            <a:avLst/>
          </a:prstGeom>
          <a:noFill/>
          <a:ln/>
        </p:spPr>
        <p:txBody>
          <a:bodyPr wrap="square" lIns="0" tIns="0" rIns="0" bIns="0" rtlCol="0" anchor="ctr"/>
          <a:lstStyle/>
          <a:p>
            <a:pPr marL="0" indent="0">
              <a:buNone/>
            </a:pPr>
            <a:r>
              <a:rPr lang="en-US" sz="1500" b="1" dirty="0">
                <a:solidFill>
                  <a:srgbClr val="FCD34D"/>
                </a:solidFill>
              </a:rPr>
              <a:t>Esplorazione</a:t>
            </a:r>
            <a:endParaRPr lang="en-US" sz="1500" dirty="0"/>
          </a:p>
        </p:txBody>
      </p:sp>
      <p:sp>
        <p:nvSpPr>
          <p:cNvPr id="11" name="Text 9"/>
          <p:cNvSpPr/>
          <p:nvPr/>
        </p:nvSpPr>
        <p:spPr>
          <a:xfrm>
            <a:off x="4443984" y="2514600"/>
            <a:ext cx="2596896" cy="274320"/>
          </a:xfrm>
          <a:prstGeom prst="rect">
            <a:avLst/>
          </a:prstGeom>
          <a:noFill/>
          <a:ln/>
        </p:spPr>
        <p:txBody>
          <a:bodyPr wrap="square" lIns="0" tIns="0" rIns="0" bIns="0" rtlCol="0" anchor="ctr">
            <a:normAutofit/>
          </a:bodyPr>
          <a:lstStyle/>
          <a:p>
            <a:pPr marL="0" indent="0">
              <a:buNone/>
            </a:pPr>
            <a:r>
              <a:rPr lang="en-US" sz="2000" b="1" dirty="0">
                <a:solidFill>
                  <a:srgbClr val="F8FAFC"/>
                </a:solidFill>
              </a:rPr>
              <a:t>ε-greedy</a:t>
            </a:r>
            <a:endParaRPr lang="en-US" sz="2000" dirty="0"/>
          </a:p>
        </p:txBody>
      </p:sp>
      <p:sp>
        <p:nvSpPr>
          <p:cNvPr id="12" name="Text 10"/>
          <p:cNvSpPr/>
          <p:nvPr/>
        </p:nvSpPr>
        <p:spPr>
          <a:xfrm>
            <a:off x="4443984" y="2907792"/>
            <a:ext cx="2596896" cy="292608"/>
          </a:xfrm>
          <a:prstGeom prst="rect">
            <a:avLst/>
          </a:prstGeom>
          <a:noFill/>
          <a:ln/>
        </p:spPr>
        <p:txBody>
          <a:bodyPr wrap="square" lIns="0" tIns="0" rIns="0" bIns="0" rtlCol="0" anchor="ctr">
            <a:normAutofit/>
          </a:bodyPr>
          <a:lstStyle/>
          <a:p>
            <a:pPr marL="0" indent="0">
              <a:buNone/>
            </a:pPr>
            <a:r>
              <a:rPr lang="en-US" sz="1020" dirty="0">
                <a:solidFill>
                  <a:srgbClr val="94A3B8"/>
                </a:solidFill>
              </a:rPr>
              <a:t>lineare · esponenziale · costante</a:t>
            </a:r>
            <a:endParaRPr lang="en-US" sz="1020" dirty="0"/>
          </a:p>
        </p:txBody>
      </p:sp>
      <p:sp>
        <p:nvSpPr>
          <p:cNvPr id="13" name="Shape 11"/>
          <p:cNvSpPr/>
          <p:nvPr/>
        </p:nvSpPr>
        <p:spPr>
          <a:xfrm>
            <a:off x="7754112" y="1847088"/>
            <a:ext cx="2999232" cy="3017520"/>
          </a:xfrm>
          <a:prstGeom prst="roundRect">
            <a:avLst>
              <a:gd name="adj" fmla="val 3049"/>
            </a:avLst>
          </a:prstGeom>
          <a:solidFill>
            <a:srgbClr val="0D1630"/>
          </a:solidFill>
          <a:ln w="12700">
            <a:solidFill>
              <a:srgbClr val="86EFAC">
                <a:alpha val="75000"/>
              </a:srgbClr>
            </a:solidFill>
            <a:prstDash val="solid"/>
          </a:ln>
        </p:spPr>
      </p:sp>
      <p:sp>
        <p:nvSpPr>
          <p:cNvPr id="14" name="Text 12"/>
          <p:cNvSpPr/>
          <p:nvPr/>
        </p:nvSpPr>
        <p:spPr>
          <a:xfrm>
            <a:off x="7955280" y="2075688"/>
            <a:ext cx="2596896" cy="219456"/>
          </a:xfrm>
          <a:prstGeom prst="rect">
            <a:avLst/>
          </a:prstGeom>
          <a:noFill/>
          <a:ln/>
        </p:spPr>
        <p:txBody>
          <a:bodyPr wrap="square" lIns="0" tIns="0" rIns="0" bIns="0" rtlCol="0" anchor="ctr"/>
          <a:lstStyle/>
          <a:p>
            <a:pPr marL="0" indent="0">
              <a:buNone/>
            </a:pPr>
            <a:r>
              <a:rPr lang="en-US" sz="1500" b="1" dirty="0">
                <a:solidFill>
                  <a:srgbClr val="86EFAC"/>
                </a:solidFill>
              </a:rPr>
              <a:t>Reward shaping</a:t>
            </a:r>
            <a:endParaRPr lang="en-US" sz="1500" dirty="0"/>
          </a:p>
        </p:txBody>
      </p:sp>
      <p:sp>
        <p:nvSpPr>
          <p:cNvPr id="15" name="Text 13"/>
          <p:cNvSpPr/>
          <p:nvPr/>
        </p:nvSpPr>
        <p:spPr>
          <a:xfrm>
            <a:off x="7955280" y="2514600"/>
            <a:ext cx="2596896" cy="274320"/>
          </a:xfrm>
          <a:prstGeom prst="rect">
            <a:avLst/>
          </a:prstGeom>
          <a:noFill/>
          <a:ln/>
        </p:spPr>
        <p:txBody>
          <a:bodyPr wrap="square" lIns="0" tIns="0" rIns="0" bIns="0" rtlCol="0" anchor="ctr">
            <a:normAutofit/>
          </a:bodyPr>
          <a:lstStyle/>
          <a:p>
            <a:pPr marL="0" indent="0">
              <a:buNone/>
            </a:pPr>
            <a:r>
              <a:rPr lang="en-US" sz="2000" b="1" dirty="0">
                <a:solidFill>
                  <a:srgbClr val="F8FAFC"/>
                </a:solidFill>
              </a:rPr>
              <a:t>training reward</a:t>
            </a:r>
            <a:endParaRPr lang="en-US" sz="2000" dirty="0"/>
          </a:p>
        </p:txBody>
      </p:sp>
      <p:sp>
        <p:nvSpPr>
          <p:cNvPr id="16" name="Text 14"/>
          <p:cNvSpPr/>
          <p:nvPr/>
        </p:nvSpPr>
        <p:spPr>
          <a:xfrm>
            <a:off x="7955280" y="2907792"/>
            <a:ext cx="2596896" cy="292608"/>
          </a:xfrm>
          <a:prstGeom prst="rect">
            <a:avLst/>
          </a:prstGeom>
          <a:noFill/>
          <a:ln/>
        </p:spPr>
        <p:txBody>
          <a:bodyPr wrap="square" lIns="0" tIns="0" rIns="0" bIns="0" rtlCol="0" anchor="ctr">
            <a:normAutofit/>
          </a:bodyPr>
          <a:lstStyle/>
          <a:p>
            <a:pPr marL="0" indent="0">
              <a:buNone/>
            </a:pPr>
            <a:r>
              <a:rPr lang="en-US" sz="1020" dirty="0">
                <a:solidFill>
                  <a:srgbClr val="94A3B8"/>
                </a:solidFill>
              </a:rPr>
              <a:t>rally · PBRS · contatto</a:t>
            </a:r>
            <a:endParaRPr lang="en-US" sz="1020" dirty="0"/>
          </a:p>
        </p:txBody>
      </p:sp>
      <p:sp>
        <p:nvSpPr>
          <p:cNvPr id="17" name="Shape 15"/>
          <p:cNvSpPr/>
          <p:nvPr/>
        </p:nvSpPr>
        <p:spPr>
          <a:xfrm>
            <a:off x="914400" y="3493008"/>
            <a:ext cx="2596896" cy="877824"/>
          </a:xfrm>
          <a:prstGeom prst="roundRect">
            <a:avLst>
              <a:gd name="adj" fmla="val 10417"/>
            </a:avLst>
          </a:prstGeom>
          <a:solidFill>
            <a:srgbClr val="0E1631"/>
          </a:solidFill>
          <a:ln w="12700">
            <a:solidFill>
              <a:srgbClr val="7DD3FC">
                <a:alpha val="60000"/>
              </a:srgbClr>
            </a:solidFill>
            <a:prstDash val="solid"/>
          </a:ln>
        </p:spPr>
      </p:sp>
      <p:sp>
        <p:nvSpPr>
          <p:cNvPr id="18" name="Text 16"/>
          <p:cNvSpPr/>
          <p:nvPr/>
        </p:nvSpPr>
        <p:spPr>
          <a:xfrm>
            <a:off x="1078992" y="3639312"/>
            <a:ext cx="2267712" cy="585216"/>
          </a:xfrm>
          <a:prstGeom prst="rect">
            <a:avLst/>
          </a:prstGeom>
          <a:noFill/>
          <a:ln/>
        </p:spPr>
        <p:txBody>
          <a:bodyPr wrap="square" lIns="0" tIns="0" rIns="0" bIns="0" rtlCol="0" anchor="ctr">
            <a:normAutofit/>
          </a:bodyPr>
          <a:lstStyle/>
          <a:p>
            <a:pPr marL="0" indent="0">
              <a:buNone/>
            </a:pPr>
            <a:endParaRPr lang="en-US" sz="1250" dirty="0"/>
          </a:p>
        </p:txBody>
      </p:sp>
      <p:sp>
        <p:nvSpPr>
          <p:cNvPr id="20" name="Shape 18"/>
          <p:cNvSpPr/>
          <p:nvPr/>
        </p:nvSpPr>
        <p:spPr>
          <a:xfrm>
            <a:off x="4443984" y="3493008"/>
            <a:ext cx="2596896" cy="877824"/>
          </a:xfrm>
          <a:prstGeom prst="roundRect">
            <a:avLst>
              <a:gd name="adj" fmla="val 10417"/>
            </a:avLst>
          </a:prstGeom>
          <a:solidFill>
            <a:srgbClr val="0E1631"/>
          </a:solidFill>
          <a:ln w="12700">
            <a:solidFill>
              <a:srgbClr val="7DD3FC">
                <a:alpha val="60000"/>
              </a:srgbClr>
            </a:solidFill>
            <a:prstDash val="solid"/>
          </a:ln>
        </p:spPr>
      </p:sp>
      <p:sp>
        <p:nvSpPr>
          <p:cNvPr id="21" name="Text 19"/>
          <p:cNvSpPr/>
          <p:nvPr/>
        </p:nvSpPr>
        <p:spPr>
          <a:xfrm>
            <a:off x="4608576" y="3639312"/>
            <a:ext cx="2267712" cy="585216"/>
          </a:xfrm>
          <a:prstGeom prst="rect">
            <a:avLst/>
          </a:prstGeom>
          <a:noFill/>
          <a:ln/>
        </p:spPr>
        <p:txBody>
          <a:bodyPr wrap="square" lIns="0" tIns="0" rIns="0" bIns="0" rtlCol="0" anchor="ctr">
            <a:normAutofit/>
          </a:bodyPr>
          <a:lstStyle/>
          <a:p>
            <a:r>
              <a:rPr sz="1500">
                <a:solidFill>
                  <a:srgbClr val="F5F7FB"/>
                </a:solidFill>
                <a:latin typeface="Arial"/>
              </a:rPr>
              <a:t>ε_lin: 1 → 0.01</a:t>
            </a:r>
          </a:p>
          <a:p>
            <a:r>
              <a:rPr sz="1500">
                <a:solidFill>
                  <a:srgbClr val="F5F7FB"/>
                </a:solidFill>
                <a:latin typeface="Arial"/>
              </a:rPr>
              <a:t>ε_exp: decresce prima</a:t>
            </a:r>
          </a:p>
          <a:p>
            <a:r>
              <a:rPr sz="1500">
                <a:solidFill>
                  <a:srgbClr val="F5F7FB"/>
                </a:solidFill>
                <a:latin typeface="Arial"/>
              </a:rPr>
              <a:t>ε_const: 0.10 dopo warm-up</a:t>
            </a:r>
          </a:p>
        </p:txBody>
      </p:sp>
      <p:sp>
        <p:nvSpPr>
          <p:cNvPr id="23" name="Shape 21"/>
          <p:cNvSpPr/>
          <p:nvPr/>
        </p:nvSpPr>
        <p:spPr>
          <a:xfrm>
            <a:off x="7955280" y="3493008"/>
            <a:ext cx="2596896" cy="877824"/>
          </a:xfrm>
          <a:prstGeom prst="roundRect">
            <a:avLst>
              <a:gd name="adj" fmla="val 10417"/>
            </a:avLst>
          </a:prstGeom>
          <a:solidFill>
            <a:srgbClr val="0E1631"/>
          </a:solidFill>
          <a:ln w="12700">
            <a:solidFill>
              <a:srgbClr val="7DD3FC">
                <a:alpha val="60000"/>
              </a:srgbClr>
            </a:solidFill>
            <a:prstDash val="solid"/>
          </a:ln>
        </p:spPr>
      </p:sp>
      <p:sp>
        <p:nvSpPr>
          <p:cNvPr id="24" name="Text 22"/>
          <p:cNvSpPr/>
          <p:nvPr/>
        </p:nvSpPr>
        <p:spPr>
          <a:xfrm>
            <a:off x="8119872" y="3639312"/>
            <a:ext cx="2267712" cy="585216"/>
          </a:xfrm>
          <a:prstGeom prst="rect">
            <a:avLst/>
          </a:prstGeom>
          <a:noFill/>
          <a:ln/>
        </p:spPr>
        <p:txBody>
          <a:bodyPr wrap="square" lIns="0" tIns="0" rIns="0" bIns="0" rtlCol="0" anchor="ctr">
            <a:normAutofit/>
          </a:bodyPr>
          <a:lstStyle/>
          <a:p>
            <a:pPr marL="0" indent="0">
              <a:buNone/>
            </a:pPr>
            <a:endParaRPr lang="en-US" sz="1250" dirty="0"/>
          </a:p>
        </p:txBody>
      </p:sp>
      <p:sp>
        <p:nvSpPr>
          <p:cNvPr id="26" name="Shape 24"/>
          <p:cNvSpPr/>
          <p:nvPr/>
        </p:nvSpPr>
        <p:spPr>
          <a:xfrm>
            <a:off x="960120" y="5285232"/>
            <a:ext cx="10012680" cy="658368"/>
          </a:xfrm>
          <a:prstGeom prst="roundRect">
            <a:avLst>
              <a:gd name="adj" fmla="val 13889"/>
            </a:avLst>
          </a:prstGeom>
          <a:solidFill>
            <a:srgbClr val="141E39"/>
          </a:solidFill>
          <a:ln w="12700">
            <a:solidFill>
              <a:srgbClr val="2C3D60"/>
            </a:solidFill>
            <a:prstDash val="solid"/>
          </a:ln>
        </p:spPr>
      </p:sp>
      <p:sp>
        <p:nvSpPr>
          <p:cNvPr id="27" name="Text 25"/>
          <p:cNvSpPr/>
          <p:nvPr/>
        </p:nvSpPr>
        <p:spPr>
          <a:xfrm>
            <a:off x="1115568" y="5495544"/>
            <a:ext cx="9637776" cy="201168"/>
          </a:xfrm>
          <a:prstGeom prst="rect">
            <a:avLst/>
          </a:prstGeom>
          <a:noFill/>
          <a:ln/>
        </p:spPr>
        <p:txBody>
          <a:bodyPr wrap="square" lIns="0" tIns="0" rIns="0" bIns="0" rtlCol="0" anchor="ctr">
            <a:normAutofit/>
          </a:bodyPr>
          <a:lstStyle/>
          <a:p>
            <a:pPr marL="0" indent="0" algn="ctr">
              <a:buNone/>
            </a:pPr>
            <a:r>
              <a:rPr lang="en-US" sz="1200" b="1" dirty="0">
                <a:solidFill>
                  <a:srgbClr val="DCE4F2"/>
                </a:solidFill>
              </a:rPr>
              <a:t> confronto sperimentale controllato + </a:t>
            </a:r>
            <a:r>
              <a:rPr lang="en-US" sz="1200" b="1" dirty="0" err="1">
                <a:solidFill>
                  <a:srgbClr val="DCE4F2"/>
                </a:solidFill>
              </a:rPr>
              <a:t>diagnostiche</a:t>
            </a:r>
            <a:r>
              <a:rPr lang="en-US" sz="1200" b="1" dirty="0">
                <a:solidFill>
                  <a:srgbClr val="DCE4F2"/>
                </a:solidFill>
              </a:rPr>
              <a:t> qualitative; </a:t>
            </a:r>
            <a:r>
              <a:rPr lang="en-US" sz="1200" b="1" dirty="0" err="1">
                <a:solidFill>
                  <a:srgbClr val="DCE4F2"/>
                </a:solidFill>
              </a:rPr>
              <a:t>metodi</a:t>
            </a:r>
            <a:r>
              <a:rPr lang="en-US" sz="1200" b="1" dirty="0">
                <a:solidFill>
                  <a:srgbClr val="DCE4F2"/>
                </a:solidFill>
              </a:rPr>
              <a:t> e </a:t>
            </a:r>
            <a:r>
              <a:rPr lang="en-US" sz="1200" b="1" dirty="0" err="1">
                <a:solidFill>
                  <a:srgbClr val="DCE4F2"/>
                </a:solidFill>
              </a:rPr>
              <a:t>teoria</a:t>
            </a:r>
            <a:r>
              <a:rPr lang="en-US" sz="1200" b="1" dirty="0">
                <a:solidFill>
                  <a:srgbClr val="DCE4F2"/>
                </a:solidFill>
              </a:rPr>
              <a:t> sono presi dalla letteratura.</a:t>
            </a:r>
            <a:endParaRPr lang="en-US" sz="1200" dirty="0"/>
          </a:p>
        </p:txBody>
      </p:sp>
      <p:sp>
        <p:nvSpPr>
          <p:cNvPr id="29"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E7897"/>
                </a:solidFill>
              </a:defRPr>
            </a:lvl1pPr>
          </a:lstStyle>
          <a:p>
            <a:pPr algn="l"/>
            <a:fld id="{F7021451-1387-4CA6-816F-3879F97B5CBC}" type="slidenum">
              <a:rPr lang="en-US" b="0"/>
              <a:t>5</a:t>
            </a:fld>
            <a:endParaRPr lang="en-US"/>
          </a:p>
        </p:txBody>
      </p:sp>
      <p:pic>
        <p:nvPicPr>
          <p:cNvPr id="30" name="Picture 29" descr="ddqn_target.png"/>
          <p:cNvPicPr>
            <a:picLocks noChangeAspect="1"/>
          </p:cNvPicPr>
          <p:nvPr/>
        </p:nvPicPr>
        <p:blipFill>
          <a:blip r:embed="rId3"/>
          <a:stretch>
            <a:fillRect/>
          </a:stretch>
        </p:blipFill>
        <p:spPr>
          <a:xfrm>
            <a:off x="960120" y="3694176"/>
            <a:ext cx="2560320" cy="502817"/>
          </a:xfrm>
          <a:prstGeom prst="rect">
            <a:avLst/>
          </a:prstGeom>
        </p:spPr>
      </p:pic>
      <p:pic>
        <p:nvPicPr>
          <p:cNvPr id="31" name="Picture 30" descr="pbrs_formula.png"/>
          <p:cNvPicPr>
            <a:picLocks noChangeAspect="1"/>
          </p:cNvPicPr>
          <p:nvPr/>
        </p:nvPicPr>
        <p:blipFill>
          <a:blip r:embed="rId4"/>
          <a:stretch>
            <a:fillRect/>
          </a:stretch>
        </p:blipFill>
        <p:spPr>
          <a:xfrm>
            <a:off x="7991856" y="3694176"/>
            <a:ext cx="2578608" cy="4974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658368" y="256032"/>
            <a:ext cx="10789920" cy="237744"/>
          </a:xfrm>
          <a:prstGeom prst="rect">
            <a:avLst/>
          </a:prstGeom>
          <a:noFill/>
          <a:ln/>
        </p:spPr>
        <p:txBody>
          <a:bodyPr wrap="square" lIns="0" tIns="0" rIns="0" bIns="0" rtlCol="0" anchor="ctr"/>
          <a:lstStyle/>
          <a:p>
            <a:pPr marL="0" indent="0">
              <a:buNone/>
            </a:pPr>
            <a:r>
              <a:rPr lang="en-US" sz="850" b="1" dirty="0">
                <a:solidFill>
                  <a:srgbClr val="7DD3FC"/>
                </a:solidFill>
                <a:latin typeface="Aptos"/>
              </a:rPr>
              <a:t>RISULTATI</a:t>
            </a:r>
            <a:endParaRPr lang="en-US" sz="850" dirty="0"/>
          </a:p>
        </p:txBody>
      </p:sp>
      <p:sp>
        <p:nvSpPr>
          <p:cNvPr id="3" name="Text 1"/>
          <p:cNvSpPr/>
          <p:nvPr/>
        </p:nvSpPr>
        <p:spPr>
          <a:xfrm>
            <a:off x="658368" y="566928"/>
            <a:ext cx="10835640" cy="530352"/>
          </a:xfrm>
          <a:prstGeom prst="rect">
            <a:avLst/>
          </a:prstGeom>
          <a:noFill/>
          <a:ln/>
        </p:spPr>
        <p:txBody>
          <a:bodyPr wrap="square" lIns="0" tIns="0" rIns="0" bIns="0" rtlCol="0" anchor="ctr">
            <a:normAutofit/>
          </a:bodyPr>
          <a:lstStyle/>
          <a:p>
            <a:pPr marL="0" indent="0">
              <a:buNone/>
            </a:pPr>
            <a:r>
              <a:rPr lang="en-US" sz="2500" b="1" dirty="0">
                <a:solidFill>
                  <a:srgbClr val="F8FAFC"/>
                </a:solidFill>
                <a:latin typeface="Aptos Display"/>
                <a:ea typeface="Aptos Display" pitchFamily="34" charset="-122"/>
                <a:cs typeface="Aptos Display" pitchFamily="34" charset="-120"/>
              </a:rPr>
              <a:t> Double DQN migliora il return medio, ma il dato resta descrittivo</a:t>
            </a:r>
            <a:endParaRPr lang="en-US" sz="2500" dirty="0">
              <a:latin typeface="Aptos Display"/>
            </a:endParaRPr>
          </a:p>
        </p:txBody>
      </p:sp>
      <p:sp>
        <p:nvSpPr>
          <p:cNvPr id="4" name="Text 2"/>
          <p:cNvSpPr/>
          <p:nvPr/>
        </p:nvSpPr>
        <p:spPr>
          <a:xfrm>
            <a:off x="685800" y="1115568"/>
            <a:ext cx="9784080" cy="329184"/>
          </a:xfrm>
          <a:prstGeom prst="rect">
            <a:avLst/>
          </a:prstGeom>
          <a:noFill/>
          <a:ln/>
        </p:spPr>
        <p:txBody>
          <a:bodyPr wrap="square" lIns="0" tIns="0" rIns="0" bIns="0" rtlCol="0" anchor="ctr"/>
          <a:lstStyle/>
          <a:p>
            <a:pPr marL="0" indent="0">
              <a:buNone/>
            </a:pPr>
            <a:r>
              <a:rPr lang="en-US" sz="1600" b="1" dirty="0">
                <a:solidFill>
                  <a:srgbClr val="DCE4F2"/>
                </a:solidFill>
              </a:rPr>
              <a:t>Sul confronto paired finale, Double DQN supera Vanilla DQN su tutti e tre i seed comuni.</a:t>
            </a:r>
            <a:endParaRPr lang="en-US" sz="1600" dirty="0"/>
          </a:p>
        </p:txBody>
      </p:sp>
      <p:sp>
        <p:nvSpPr>
          <p:cNvPr id="5" name="Text 3"/>
          <p:cNvSpPr/>
          <p:nvPr/>
        </p:nvSpPr>
        <p:spPr>
          <a:xfrm>
            <a:off x="768096" y="1664208"/>
            <a:ext cx="2103120" cy="411480"/>
          </a:xfrm>
          <a:prstGeom prst="rect">
            <a:avLst/>
          </a:prstGeom>
          <a:noFill/>
          <a:ln/>
        </p:spPr>
        <p:txBody>
          <a:bodyPr wrap="square" lIns="0" tIns="0" rIns="0" bIns="0" rtlCol="0" anchor="ctr">
            <a:normAutofit/>
          </a:bodyPr>
          <a:lstStyle/>
          <a:p>
            <a:pPr marL="0" indent="0">
              <a:buNone/>
            </a:pPr>
            <a:r>
              <a:rPr lang="en-US" sz="2400" b="1" dirty="0">
                <a:solidFill>
                  <a:srgbClr val="7DD3FC"/>
                </a:solidFill>
              </a:rPr>
              <a:t>12.77 ± 2.05</a:t>
            </a:r>
            <a:endParaRPr lang="en-US" sz="2400" dirty="0"/>
          </a:p>
        </p:txBody>
      </p:sp>
      <p:sp>
        <p:nvSpPr>
          <p:cNvPr id="6" name="Text 4"/>
          <p:cNvSpPr/>
          <p:nvPr/>
        </p:nvSpPr>
        <p:spPr>
          <a:xfrm>
            <a:off x="768096" y="2103120"/>
            <a:ext cx="2103120" cy="292608"/>
          </a:xfrm>
          <a:prstGeom prst="rect">
            <a:avLst/>
          </a:prstGeom>
          <a:noFill/>
          <a:ln/>
        </p:spPr>
        <p:txBody>
          <a:bodyPr wrap="square" lIns="0" tIns="0" rIns="0" bIns="0" rtlCol="0" anchor="ctr">
            <a:normAutofit/>
          </a:bodyPr>
          <a:lstStyle/>
          <a:p>
            <a:pPr marL="0" indent="0">
              <a:buNone/>
            </a:pPr>
            <a:r>
              <a:rPr lang="en-US" sz="920" dirty="0">
                <a:solidFill>
                  <a:srgbClr val="DCE4F2"/>
                </a:solidFill>
              </a:rPr>
              <a:t>Vanilla DQN</a:t>
            </a:r>
            <a:endParaRPr lang="en-US" sz="920" dirty="0"/>
          </a:p>
        </p:txBody>
      </p:sp>
      <p:sp>
        <p:nvSpPr>
          <p:cNvPr id="7" name="Text 5"/>
          <p:cNvSpPr/>
          <p:nvPr/>
        </p:nvSpPr>
        <p:spPr>
          <a:xfrm>
            <a:off x="3072384" y="1664208"/>
            <a:ext cx="2103120" cy="411480"/>
          </a:xfrm>
          <a:prstGeom prst="rect">
            <a:avLst/>
          </a:prstGeom>
          <a:noFill/>
          <a:ln/>
        </p:spPr>
        <p:txBody>
          <a:bodyPr wrap="square" lIns="0" tIns="0" rIns="0" bIns="0" rtlCol="0" anchor="ctr">
            <a:normAutofit/>
          </a:bodyPr>
          <a:lstStyle/>
          <a:p>
            <a:pPr marL="0" indent="0">
              <a:buNone/>
            </a:pPr>
            <a:r>
              <a:rPr lang="en-US" sz="2400" b="1" dirty="0">
                <a:solidFill>
                  <a:srgbClr val="86EFAC"/>
                </a:solidFill>
              </a:rPr>
              <a:t>15.88 ± 1.93</a:t>
            </a:r>
            <a:endParaRPr lang="en-US" sz="2400" dirty="0"/>
          </a:p>
        </p:txBody>
      </p:sp>
      <p:sp>
        <p:nvSpPr>
          <p:cNvPr id="8" name="Text 6"/>
          <p:cNvSpPr/>
          <p:nvPr/>
        </p:nvSpPr>
        <p:spPr>
          <a:xfrm>
            <a:off x="3072384" y="2103120"/>
            <a:ext cx="2103120" cy="292608"/>
          </a:xfrm>
          <a:prstGeom prst="rect">
            <a:avLst/>
          </a:prstGeom>
          <a:noFill/>
          <a:ln/>
        </p:spPr>
        <p:txBody>
          <a:bodyPr wrap="square" lIns="0" tIns="0" rIns="0" bIns="0" rtlCol="0" anchor="ctr">
            <a:normAutofit/>
          </a:bodyPr>
          <a:lstStyle/>
          <a:p>
            <a:pPr marL="0" indent="0">
              <a:buNone/>
            </a:pPr>
            <a:r>
              <a:rPr lang="en-US" sz="920" dirty="0">
                <a:solidFill>
                  <a:srgbClr val="DCE4F2"/>
                </a:solidFill>
              </a:rPr>
              <a:t>Double DQN</a:t>
            </a:r>
            <a:endParaRPr lang="en-US" sz="920" dirty="0"/>
          </a:p>
        </p:txBody>
      </p:sp>
      <p:sp>
        <p:nvSpPr>
          <p:cNvPr id="9" name="Text 7"/>
          <p:cNvSpPr/>
          <p:nvPr/>
        </p:nvSpPr>
        <p:spPr>
          <a:xfrm>
            <a:off x="5358384" y="1664208"/>
            <a:ext cx="1645920" cy="411480"/>
          </a:xfrm>
          <a:prstGeom prst="rect">
            <a:avLst/>
          </a:prstGeom>
          <a:noFill/>
          <a:ln/>
        </p:spPr>
        <p:txBody>
          <a:bodyPr wrap="square" lIns="0" tIns="0" rIns="0" bIns="0" rtlCol="0" anchor="ctr">
            <a:normAutofit/>
          </a:bodyPr>
          <a:lstStyle/>
          <a:p>
            <a:pPr marL="0" indent="0">
              <a:buNone/>
            </a:pPr>
            <a:r>
              <a:rPr lang="en-US" sz="2400" b="1" dirty="0">
                <a:solidFill>
                  <a:srgbClr val="FCD34D"/>
                </a:solidFill>
              </a:rPr>
              <a:t>+3.12</a:t>
            </a:r>
            <a:endParaRPr lang="en-US" sz="2400" dirty="0"/>
          </a:p>
        </p:txBody>
      </p:sp>
      <p:sp>
        <p:nvSpPr>
          <p:cNvPr id="10" name="Text 8"/>
          <p:cNvSpPr/>
          <p:nvPr/>
        </p:nvSpPr>
        <p:spPr>
          <a:xfrm>
            <a:off x="5358384" y="2103120"/>
            <a:ext cx="1645920" cy="292608"/>
          </a:xfrm>
          <a:prstGeom prst="rect">
            <a:avLst/>
          </a:prstGeom>
          <a:noFill/>
          <a:ln/>
        </p:spPr>
        <p:txBody>
          <a:bodyPr wrap="square" lIns="0" tIns="0" rIns="0" bIns="0" rtlCol="0" anchor="ctr">
            <a:normAutofit/>
          </a:bodyPr>
          <a:lstStyle/>
          <a:p>
            <a:pPr marL="0" indent="0">
              <a:buNone/>
            </a:pPr>
            <a:r>
              <a:rPr lang="en-US" sz="920" dirty="0">
                <a:solidFill>
                  <a:srgbClr val="DCE4F2"/>
                </a:solidFill>
              </a:rPr>
              <a:t>Δ paired medio</a:t>
            </a:r>
            <a:endParaRPr lang="en-US" sz="920" dirty="0"/>
          </a:p>
        </p:txBody>
      </p:sp>
      <p:sp>
        <p:nvSpPr>
          <p:cNvPr id="11" name="Text 9"/>
          <p:cNvSpPr/>
          <p:nvPr/>
        </p:nvSpPr>
        <p:spPr>
          <a:xfrm>
            <a:off x="5358384" y="2414016"/>
            <a:ext cx="1645920" cy="237744"/>
          </a:xfrm>
          <a:prstGeom prst="rect">
            <a:avLst/>
          </a:prstGeom>
          <a:noFill/>
          <a:ln/>
        </p:spPr>
        <p:txBody>
          <a:bodyPr wrap="square" lIns="0" tIns="0" rIns="0" bIns="0" rtlCol="0" anchor="ctr">
            <a:normAutofit/>
          </a:bodyPr>
          <a:lstStyle/>
          <a:p>
            <a:pPr marL="0" indent="0">
              <a:buNone/>
            </a:pPr>
            <a:r>
              <a:rPr lang="en-US" sz="730" dirty="0">
                <a:solidFill>
                  <a:srgbClr val="94A3B8"/>
                </a:solidFill>
              </a:rPr>
              <a:t>std tra delta: 1.68</a:t>
            </a:r>
            <a:endParaRPr lang="en-US" sz="730" dirty="0"/>
          </a:p>
        </p:txBody>
      </p:sp>
      <p:sp>
        <p:nvSpPr>
          <p:cNvPr id="12" name="Shape 10"/>
          <p:cNvSpPr/>
          <p:nvPr/>
        </p:nvSpPr>
        <p:spPr>
          <a:xfrm>
            <a:off x="713232" y="2788920"/>
            <a:ext cx="4846320" cy="2743200"/>
          </a:xfrm>
          <a:prstGeom prst="roundRect">
            <a:avLst>
              <a:gd name="adj" fmla="val 3333"/>
            </a:avLst>
          </a:prstGeom>
          <a:solidFill>
            <a:srgbClr val="FFFFFF"/>
          </a:solidFill>
          <a:ln w="12700">
            <a:solidFill>
              <a:srgbClr val="233153">
                <a:alpha val="80000"/>
              </a:srgbClr>
            </a:solidFill>
            <a:prstDash val="solid"/>
          </a:ln>
        </p:spPr>
      </p:sp>
      <p:pic>
        <p:nvPicPr>
          <p:cNvPr id="13" name="Image 0" descr="/mnt/data/pong_proj/pong_project/figures/report/03_dqn_ddqn_paired_final_comparison.png"/>
          <p:cNvPicPr>
            <a:picLocks noChangeAspect="1"/>
          </p:cNvPicPr>
          <p:nvPr/>
        </p:nvPicPr>
        <p:blipFill>
          <a:blip r:embed="rId3"/>
          <a:stretch>
            <a:fillRect/>
          </a:stretch>
        </p:blipFill>
        <p:spPr>
          <a:xfrm>
            <a:off x="1225296" y="2852928"/>
            <a:ext cx="3822192" cy="2615184"/>
          </a:xfrm>
          <a:prstGeom prst="rect">
            <a:avLst/>
          </a:prstGeom>
        </p:spPr>
      </p:pic>
      <p:sp>
        <p:nvSpPr>
          <p:cNvPr id="14" name="Text 11"/>
          <p:cNvSpPr/>
          <p:nvPr/>
        </p:nvSpPr>
        <p:spPr>
          <a:xfrm>
            <a:off x="713232" y="5586984"/>
            <a:ext cx="4846320" cy="201168"/>
          </a:xfrm>
          <a:prstGeom prst="rect">
            <a:avLst/>
          </a:prstGeom>
          <a:noFill/>
          <a:ln/>
        </p:spPr>
        <p:txBody>
          <a:bodyPr wrap="square" lIns="0" tIns="0" rIns="0" bIns="0" rtlCol="0" anchor="ctr">
            <a:normAutofit/>
          </a:bodyPr>
          <a:lstStyle/>
          <a:p>
            <a:pPr marL="0" indent="0">
              <a:buNone/>
            </a:pPr>
            <a:r>
              <a:rPr lang="en-US" sz="750" dirty="0">
                <a:solidFill>
                  <a:srgbClr val="94A3B8"/>
                </a:solidFill>
              </a:rPr>
              <a:t>Confronto paired seed-by-seed al checkpoint finale</a:t>
            </a:r>
            <a:endParaRPr lang="en-US" sz="750" dirty="0"/>
          </a:p>
        </p:txBody>
      </p:sp>
      <p:sp>
        <p:nvSpPr>
          <p:cNvPr id="15" name="Shape 12"/>
          <p:cNvSpPr/>
          <p:nvPr/>
        </p:nvSpPr>
        <p:spPr>
          <a:xfrm>
            <a:off x="5897880" y="2788920"/>
            <a:ext cx="5303520" cy="1965960"/>
          </a:xfrm>
          <a:prstGeom prst="roundRect">
            <a:avLst>
              <a:gd name="adj" fmla="val 4651"/>
            </a:avLst>
          </a:prstGeom>
          <a:solidFill>
            <a:srgbClr val="FFFFFF"/>
          </a:solidFill>
          <a:ln w="12700">
            <a:solidFill>
              <a:srgbClr val="233153">
                <a:alpha val="80000"/>
              </a:srgbClr>
            </a:solidFill>
            <a:prstDash val="solid"/>
          </a:ln>
        </p:spPr>
      </p:sp>
      <p:pic>
        <p:nvPicPr>
          <p:cNvPr id="16" name="Image 1" descr="/mnt/data/pong_proj/pong_project/figures/report/02_ddqn_multiseed_evaluation.png"/>
          <p:cNvPicPr>
            <a:picLocks noChangeAspect="1"/>
          </p:cNvPicPr>
          <p:nvPr/>
        </p:nvPicPr>
        <p:blipFill>
          <a:blip r:embed="rId4"/>
          <a:stretch>
            <a:fillRect/>
          </a:stretch>
        </p:blipFill>
        <p:spPr>
          <a:xfrm>
            <a:off x="7029802" y="2852928"/>
            <a:ext cx="3039677" cy="1837944"/>
          </a:xfrm>
          <a:prstGeom prst="rect">
            <a:avLst/>
          </a:prstGeom>
        </p:spPr>
      </p:pic>
      <p:sp>
        <p:nvSpPr>
          <p:cNvPr id="17" name="Text 13"/>
          <p:cNvSpPr/>
          <p:nvPr/>
        </p:nvSpPr>
        <p:spPr>
          <a:xfrm>
            <a:off x="5897880" y="4809744"/>
            <a:ext cx="5303520" cy="201168"/>
          </a:xfrm>
          <a:prstGeom prst="rect">
            <a:avLst/>
          </a:prstGeom>
          <a:noFill/>
          <a:ln/>
        </p:spPr>
        <p:txBody>
          <a:bodyPr wrap="square" lIns="0" tIns="0" rIns="0" bIns="0" rtlCol="0" anchor="ctr">
            <a:normAutofit/>
          </a:bodyPr>
          <a:lstStyle/>
          <a:p>
            <a:pPr marL="0" indent="0">
              <a:buNone/>
            </a:pPr>
            <a:r>
              <a:rPr lang="en-US" sz="750" dirty="0">
                <a:solidFill>
                  <a:srgbClr val="94A3B8"/>
                </a:solidFill>
              </a:rPr>
              <a:t>Andamento Double DQN multi-seed</a:t>
            </a:r>
            <a:endParaRPr lang="en-US" sz="750" dirty="0"/>
          </a:p>
        </p:txBody>
      </p:sp>
      <p:sp>
        <p:nvSpPr>
          <p:cNvPr id="18" name="Shape 14"/>
          <p:cNvSpPr/>
          <p:nvPr/>
        </p:nvSpPr>
        <p:spPr>
          <a:xfrm>
            <a:off x="5897880" y="5102352"/>
            <a:ext cx="5303520" cy="658368"/>
          </a:xfrm>
          <a:prstGeom prst="roundRect">
            <a:avLst>
              <a:gd name="adj" fmla="val 13889"/>
            </a:avLst>
          </a:prstGeom>
          <a:solidFill>
            <a:srgbClr val="171B2F"/>
          </a:solidFill>
          <a:ln w="12700">
            <a:solidFill>
              <a:srgbClr val="FCD34D">
                <a:alpha val="65000"/>
              </a:srgbClr>
            </a:solidFill>
            <a:prstDash val="solid"/>
          </a:ln>
        </p:spPr>
      </p:sp>
      <p:sp>
        <p:nvSpPr>
          <p:cNvPr id="19" name="Text 15"/>
          <p:cNvSpPr/>
          <p:nvPr/>
        </p:nvSpPr>
        <p:spPr>
          <a:xfrm>
            <a:off x="6080760" y="5276088"/>
            <a:ext cx="1554480" cy="164592"/>
          </a:xfrm>
          <a:prstGeom prst="rect">
            <a:avLst/>
          </a:prstGeom>
          <a:noFill/>
          <a:ln/>
        </p:spPr>
        <p:txBody>
          <a:bodyPr wrap="square" lIns="0" tIns="0" rIns="0" bIns="0" rtlCol="0" anchor="ctr"/>
          <a:lstStyle/>
          <a:p>
            <a:pPr marL="0" indent="0">
              <a:buNone/>
            </a:pPr>
            <a:r>
              <a:rPr lang="en-US" sz="900" b="1" dirty="0">
                <a:solidFill>
                  <a:srgbClr val="FCD34D"/>
                </a:solidFill>
              </a:rPr>
              <a:t>Interpretazione corretta</a:t>
            </a:r>
            <a:endParaRPr lang="en-US" sz="900" dirty="0"/>
          </a:p>
        </p:txBody>
      </p:sp>
      <p:sp>
        <p:nvSpPr>
          <p:cNvPr id="20" name="Text 16"/>
          <p:cNvSpPr/>
          <p:nvPr/>
        </p:nvSpPr>
        <p:spPr>
          <a:xfrm>
            <a:off x="7726680" y="5248656"/>
            <a:ext cx="3063240" cy="219456"/>
          </a:xfrm>
          <a:prstGeom prst="rect">
            <a:avLst/>
          </a:prstGeom>
          <a:noFill/>
          <a:ln/>
        </p:spPr>
        <p:txBody>
          <a:bodyPr wrap="square" lIns="0" tIns="0" rIns="0" bIns="0" rtlCol="0" anchor="ctr">
            <a:normAutofit/>
          </a:bodyPr>
          <a:lstStyle/>
          <a:p>
            <a:pPr marL="0" indent="0">
              <a:buNone/>
            </a:pPr>
            <a:r>
              <a:rPr lang="en-US" sz="950" dirty="0">
                <a:solidFill>
                  <a:srgbClr val="DCE4F2"/>
                </a:solidFill>
              </a:rPr>
              <a:t>Con n=3 non è una prova statistica forte. È però un segnale coerente nel campione osservato.</a:t>
            </a:r>
            <a:endParaRPr lang="en-US" sz="95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E7897"/>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658368" y="256032"/>
            <a:ext cx="10789920" cy="237744"/>
          </a:xfrm>
          <a:prstGeom prst="rect">
            <a:avLst/>
          </a:prstGeom>
          <a:noFill/>
          <a:ln/>
        </p:spPr>
        <p:txBody>
          <a:bodyPr wrap="square" lIns="0" tIns="0" rIns="0" bIns="0" rtlCol="0" anchor="ctr"/>
          <a:lstStyle/>
          <a:p>
            <a:pPr marL="0" indent="0">
              <a:buNone/>
            </a:pPr>
            <a:r>
              <a:rPr lang="en-US" sz="850" b="1" dirty="0">
                <a:solidFill>
                  <a:srgbClr val="7DD3FC"/>
                </a:solidFill>
                <a:latin typeface="Aptos"/>
                <a:ea typeface="Aptos" pitchFamily="34" charset="-122"/>
                <a:cs typeface="Aptos" pitchFamily="34" charset="-120"/>
              </a:rPr>
              <a:t>ESPERIMENTI </a:t>
            </a:r>
            <a:endParaRPr lang="en-US" sz="850" dirty="0"/>
          </a:p>
        </p:txBody>
      </p:sp>
      <p:sp>
        <p:nvSpPr>
          <p:cNvPr id="3" name="Text 1"/>
          <p:cNvSpPr/>
          <p:nvPr/>
        </p:nvSpPr>
        <p:spPr>
          <a:xfrm>
            <a:off x="658368" y="566928"/>
            <a:ext cx="10835640" cy="530352"/>
          </a:xfrm>
          <a:prstGeom prst="rect">
            <a:avLst/>
          </a:prstGeom>
          <a:noFill/>
          <a:ln/>
        </p:spPr>
        <p:txBody>
          <a:bodyPr wrap="square" lIns="0" tIns="0" rIns="0" bIns="0" rtlCol="0" anchor="ctr">
            <a:normAutofit/>
          </a:bodyPr>
          <a:lstStyle/>
          <a:p>
            <a:r>
              <a:rPr lang="en-US" sz="2500" b="1" dirty="0" err="1">
                <a:solidFill>
                  <a:srgbClr val="F8FAFC"/>
                </a:solidFill>
                <a:latin typeface="Aptos Display"/>
                <a:ea typeface="Aptos Display" pitchFamily="34" charset="-122"/>
                <a:cs typeface="Aptos Display" pitchFamily="34" charset="-120"/>
              </a:rPr>
              <a:t>Analisi</a:t>
            </a:r>
            <a:r>
              <a:rPr lang="en-US" sz="2500" b="1" dirty="0">
                <a:solidFill>
                  <a:srgbClr val="F8FAFC"/>
                </a:solidFill>
                <a:latin typeface="Aptos Display"/>
                <a:ea typeface="Aptos Display" pitchFamily="34" charset="-122"/>
                <a:cs typeface="Aptos Display" pitchFamily="34" charset="-120"/>
              </a:rPr>
              <a:t> delle ablation</a:t>
            </a:r>
            <a:endParaRPr lang="en-US" sz="2500" b="1" dirty="0">
              <a:solidFill>
                <a:srgbClr val="F8FAFC"/>
              </a:solidFill>
              <a:latin typeface="Aptos Display"/>
            </a:endParaRPr>
          </a:p>
        </p:txBody>
      </p:sp>
      <p:sp>
        <p:nvSpPr>
          <p:cNvPr id="4" name="Text 2"/>
          <p:cNvSpPr/>
          <p:nvPr/>
        </p:nvSpPr>
        <p:spPr>
          <a:xfrm>
            <a:off x="685800" y="1115568"/>
            <a:ext cx="10058400" cy="329184"/>
          </a:xfrm>
          <a:prstGeom prst="rect">
            <a:avLst/>
          </a:prstGeom>
          <a:noFill/>
          <a:ln/>
        </p:spPr>
        <p:txBody>
          <a:bodyPr wrap="square" lIns="0" tIns="0" rIns="0" bIns="0" rtlCol="0" anchor="ctr">
            <a:normAutofit/>
          </a:bodyPr>
          <a:lstStyle/>
          <a:p>
            <a:pPr marL="0" indent="0">
              <a:buNone/>
            </a:pPr>
            <a:r>
              <a:rPr lang="en-US" sz="1550" b="1" dirty="0">
                <a:solidFill>
                  <a:srgbClr val="DCE4F2"/>
                </a:solidFill>
              </a:rPr>
              <a:t> quale modifica migliora il training senza </a:t>
            </a:r>
            <a:r>
              <a:rPr lang="en-US" sz="1550" b="1" dirty="0" err="1">
                <a:solidFill>
                  <a:srgbClr val="DCE4F2"/>
                </a:solidFill>
              </a:rPr>
              <a:t>introdurre</a:t>
            </a:r>
            <a:r>
              <a:rPr lang="en-US" sz="1550" b="1" dirty="0">
                <a:solidFill>
                  <a:srgbClr val="DCE4F2"/>
                </a:solidFill>
              </a:rPr>
              <a:t> </a:t>
            </a:r>
            <a:r>
              <a:rPr lang="en-US" sz="1550" b="1" dirty="0" err="1">
                <a:solidFill>
                  <a:srgbClr val="DCE4F2"/>
                </a:solidFill>
              </a:rPr>
              <a:t>instabilità</a:t>
            </a:r>
            <a:r>
              <a:rPr lang="en-US" sz="1550" b="1" dirty="0">
                <a:solidFill>
                  <a:srgbClr val="DCE4F2"/>
                </a:solidFill>
              </a:rPr>
              <a:t>?</a:t>
            </a:r>
            <a:endParaRPr lang="en-US" sz="1550" dirty="0"/>
          </a:p>
        </p:txBody>
      </p:sp>
      <p:sp>
        <p:nvSpPr>
          <p:cNvPr id="5" name="Shape 3"/>
          <p:cNvSpPr/>
          <p:nvPr/>
        </p:nvSpPr>
        <p:spPr>
          <a:xfrm>
            <a:off x="694944" y="1664208"/>
            <a:ext cx="3493008" cy="1938528"/>
          </a:xfrm>
          <a:prstGeom prst="roundRect">
            <a:avLst>
              <a:gd name="adj" fmla="val 4717"/>
            </a:avLst>
          </a:prstGeom>
          <a:solidFill>
            <a:srgbClr val="FFFFFF"/>
          </a:solidFill>
          <a:ln w="12700">
            <a:solidFill>
              <a:srgbClr val="233153">
                <a:alpha val="80000"/>
              </a:srgbClr>
            </a:solidFill>
            <a:prstDash val="solid"/>
          </a:ln>
        </p:spPr>
      </p:sp>
      <p:pic>
        <p:nvPicPr>
          <p:cNvPr id="6" name="Image 0" descr="/mnt/data/pong_proj/pong_project/figures/report/10_epsilon_multiseed_evaluation.png"/>
          <p:cNvPicPr>
            <a:picLocks noChangeAspect="1"/>
          </p:cNvPicPr>
          <p:nvPr/>
        </p:nvPicPr>
        <p:blipFill>
          <a:blip r:embed="rId3"/>
          <a:stretch>
            <a:fillRect/>
          </a:stretch>
        </p:blipFill>
        <p:spPr>
          <a:xfrm>
            <a:off x="944294" y="1728216"/>
            <a:ext cx="2994308" cy="1810512"/>
          </a:xfrm>
          <a:prstGeom prst="rect">
            <a:avLst/>
          </a:prstGeom>
        </p:spPr>
      </p:pic>
      <p:sp>
        <p:nvSpPr>
          <p:cNvPr id="7" name="Text 4"/>
          <p:cNvSpPr/>
          <p:nvPr/>
        </p:nvSpPr>
        <p:spPr>
          <a:xfrm>
            <a:off x="694944" y="3657600"/>
            <a:ext cx="3493008" cy="201168"/>
          </a:xfrm>
          <a:prstGeom prst="rect">
            <a:avLst/>
          </a:prstGeom>
          <a:noFill/>
          <a:ln/>
        </p:spPr>
        <p:txBody>
          <a:bodyPr wrap="square" lIns="0" tIns="0" rIns="0" bIns="0" rtlCol="0" anchor="ctr">
            <a:normAutofit/>
          </a:bodyPr>
          <a:lstStyle/>
          <a:p>
            <a:pPr marL="0" indent="0">
              <a:buNone/>
            </a:pPr>
            <a:r>
              <a:rPr lang="en-US" sz="750" dirty="0">
                <a:solidFill>
                  <a:srgbClr val="94A3B8"/>
                </a:solidFill>
              </a:rPr>
              <a:t>ε-greedy: esponenziale più consistente</a:t>
            </a:r>
            <a:endParaRPr lang="en-US" sz="750" dirty="0"/>
          </a:p>
        </p:txBody>
      </p:sp>
      <p:sp>
        <p:nvSpPr>
          <p:cNvPr id="8" name="Shape 5"/>
          <p:cNvSpPr/>
          <p:nvPr/>
        </p:nvSpPr>
        <p:spPr>
          <a:xfrm>
            <a:off x="4443984" y="1664208"/>
            <a:ext cx="3493008" cy="1938528"/>
          </a:xfrm>
          <a:prstGeom prst="roundRect">
            <a:avLst>
              <a:gd name="adj" fmla="val 4717"/>
            </a:avLst>
          </a:prstGeom>
          <a:solidFill>
            <a:srgbClr val="FFFFFF"/>
          </a:solidFill>
          <a:ln w="12700">
            <a:solidFill>
              <a:srgbClr val="233153">
                <a:alpha val="80000"/>
              </a:srgbClr>
            </a:solidFill>
            <a:prstDash val="solid"/>
          </a:ln>
        </p:spPr>
      </p:sp>
      <p:pic>
        <p:nvPicPr>
          <p:cNvPr id="9" name="Image 1" descr="/mnt/data/pong_proj/pong_project/figures/report/11_rally_multiseed_evaluation.png"/>
          <p:cNvPicPr>
            <a:picLocks noChangeAspect="1"/>
          </p:cNvPicPr>
          <p:nvPr/>
        </p:nvPicPr>
        <p:blipFill>
          <a:blip r:embed="rId4"/>
          <a:stretch>
            <a:fillRect/>
          </a:stretch>
        </p:blipFill>
        <p:spPr>
          <a:xfrm>
            <a:off x="4693334" y="1728216"/>
            <a:ext cx="2994308" cy="1810512"/>
          </a:xfrm>
          <a:prstGeom prst="rect">
            <a:avLst/>
          </a:prstGeom>
        </p:spPr>
      </p:pic>
      <p:sp>
        <p:nvSpPr>
          <p:cNvPr id="10" name="Text 6"/>
          <p:cNvSpPr/>
          <p:nvPr/>
        </p:nvSpPr>
        <p:spPr>
          <a:xfrm>
            <a:off x="4443984" y="3657600"/>
            <a:ext cx="3493008" cy="201168"/>
          </a:xfrm>
          <a:prstGeom prst="rect">
            <a:avLst/>
          </a:prstGeom>
          <a:noFill/>
          <a:ln/>
        </p:spPr>
        <p:txBody>
          <a:bodyPr wrap="square" lIns="0" tIns="0" rIns="0" bIns="0" rtlCol="0" anchor="ctr">
            <a:normAutofit/>
          </a:bodyPr>
          <a:lstStyle/>
          <a:p>
            <a:pPr marL="0" indent="0">
              <a:buNone/>
            </a:pPr>
            <a:r>
              <a:rPr lang="en-US" sz="750" dirty="0">
                <a:solidFill>
                  <a:srgbClr val="94A3B8"/>
                </a:solidFill>
              </a:rPr>
              <a:t>Rally: moderato stabile, aggressivo instabile</a:t>
            </a:r>
            <a:endParaRPr lang="en-US" sz="750" dirty="0"/>
          </a:p>
        </p:txBody>
      </p:sp>
      <p:sp>
        <p:nvSpPr>
          <p:cNvPr id="11" name="Shape 7"/>
          <p:cNvSpPr/>
          <p:nvPr/>
        </p:nvSpPr>
        <p:spPr>
          <a:xfrm>
            <a:off x="8193024" y="1664208"/>
            <a:ext cx="3493008" cy="1938528"/>
          </a:xfrm>
          <a:prstGeom prst="roundRect">
            <a:avLst>
              <a:gd name="adj" fmla="val 4717"/>
            </a:avLst>
          </a:prstGeom>
          <a:solidFill>
            <a:srgbClr val="FFFFFF"/>
          </a:solidFill>
          <a:ln w="12700">
            <a:solidFill>
              <a:srgbClr val="233153">
                <a:alpha val="80000"/>
              </a:srgbClr>
            </a:solidFill>
            <a:prstDash val="solid"/>
          </a:ln>
        </p:spPr>
      </p:sp>
      <p:pic>
        <p:nvPicPr>
          <p:cNvPr id="12" name="Image 2" descr="/mnt/data/pong_proj/pong_project/figures/report/12_pbrs_multiseed_evaluation.png"/>
          <p:cNvPicPr>
            <a:picLocks noChangeAspect="1"/>
          </p:cNvPicPr>
          <p:nvPr/>
        </p:nvPicPr>
        <p:blipFill>
          <a:blip r:embed="rId5"/>
          <a:stretch>
            <a:fillRect/>
          </a:stretch>
        </p:blipFill>
        <p:spPr>
          <a:xfrm>
            <a:off x="8442374" y="1728216"/>
            <a:ext cx="2994308" cy="1810512"/>
          </a:xfrm>
          <a:prstGeom prst="rect">
            <a:avLst/>
          </a:prstGeom>
        </p:spPr>
      </p:pic>
      <p:sp>
        <p:nvSpPr>
          <p:cNvPr id="13" name="Text 8"/>
          <p:cNvSpPr/>
          <p:nvPr/>
        </p:nvSpPr>
        <p:spPr>
          <a:xfrm>
            <a:off x="8193024" y="3657600"/>
            <a:ext cx="3493008" cy="201168"/>
          </a:xfrm>
          <a:prstGeom prst="rect">
            <a:avLst/>
          </a:prstGeom>
          <a:noFill/>
          <a:ln/>
        </p:spPr>
        <p:txBody>
          <a:bodyPr wrap="square" lIns="0" tIns="0" rIns="0" bIns="0" rtlCol="0" anchor="ctr">
            <a:normAutofit/>
          </a:bodyPr>
          <a:lstStyle/>
          <a:p>
            <a:pPr marL="0" indent="0">
              <a:buNone/>
            </a:pPr>
            <a:r>
              <a:rPr lang="en-US" sz="750" dirty="0">
                <a:solidFill>
                  <a:srgbClr val="94A3B8"/>
                </a:solidFill>
              </a:rPr>
              <a:t>PBRS: κ=0.50 recupera nel finale</a:t>
            </a:r>
            <a:endParaRPr lang="en-US" sz="750" dirty="0"/>
          </a:p>
        </p:txBody>
      </p:sp>
      <p:sp>
        <p:nvSpPr>
          <p:cNvPr id="14" name="Shape 9"/>
          <p:cNvSpPr/>
          <p:nvPr/>
        </p:nvSpPr>
        <p:spPr>
          <a:xfrm>
            <a:off x="804672" y="4133088"/>
            <a:ext cx="10588752" cy="1417320"/>
          </a:xfrm>
          <a:prstGeom prst="roundRect">
            <a:avLst>
              <a:gd name="adj" fmla="val 6452"/>
            </a:avLst>
          </a:prstGeom>
          <a:solidFill>
            <a:srgbClr val="0D1630"/>
          </a:solidFill>
          <a:ln w="12700">
            <a:solidFill>
              <a:srgbClr val="26314F"/>
            </a:solidFill>
            <a:prstDash val="solid"/>
          </a:ln>
        </p:spPr>
      </p:sp>
      <p:sp>
        <p:nvSpPr>
          <p:cNvPr id="15" name="Text 10"/>
          <p:cNvSpPr/>
          <p:nvPr/>
        </p:nvSpPr>
        <p:spPr>
          <a:xfrm>
            <a:off x="987552" y="4315968"/>
            <a:ext cx="5120640" cy="201168"/>
          </a:xfrm>
          <a:prstGeom prst="rect">
            <a:avLst/>
          </a:prstGeom>
          <a:noFill/>
          <a:ln/>
        </p:spPr>
        <p:txBody>
          <a:bodyPr wrap="square" lIns="0" tIns="0" rIns="0" bIns="0" rtlCol="0" anchor="ctr"/>
          <a:lstStyle/>
          <a:p>
            <a:pPr marL="0" indent="0">
              <a:buNone/>
            </a:pPr>
            <a:r>
              <a:rPr lang="en-US" sz="1200" b="1" dirty="0">
                <a:solidFill>
                  <a:srgbClr val="F8FAFC"/>
                </a:solidFill>
              </a:rPr>
              <a:t>Sintesi finale a 1.8M step: migliori configurazioni per famiglia</a:t>
            </a:r>
            <a:endParaRPr lang="en-US" sz="1200" dirty="0"/>
          </a:p>
        </p:txBody>
      </p:sp>
      <p:sp>
        <p:nvSpPr>
          <p:cNvPr id="16" name="Text 11"/>
          <p:cNvSpPr/>
          <p:nvPr/>
        </p:nvSpPr>
        <p:spPr>
          <a:xfrm>
            <a:off x="987552" y="4608576"/>
            <a:ext cx="1188720" cy="118872"/>
          </a:xfrm>
          <a:prstGeom prst="rect">
            <a:avLst/>
          </a:prstGeom>
          <a:noFill/>
          <a:ln/>
        </p:spPr>
        <p:txBody>
          <a:bodyPr wrap="square" lIns="0" tIns="0" rIns="0" bIns="0" rtlCol="0" anchor="ctr">
            <a:normAutofit/>
          </a:bodyPr>
          <a:lstStyle/>
          <a:p>
            <a:pPr marL="0" indent="0" algn="r">
              <a:buNone/>
            </a:pPr>
            <a:r>
              <a:rPr lang="en-US" sz="680" dirty="0">
                <a:solidFill>
                  <a:srgbClr val="94A3B8"/>
                </a:solidFill>
              </a:rPr>
              <a:t>Vanilla DQN</a:t>
            </a:r>
            <a:endParaRPr lang="en-US" sz="680" dirty="0"/>
          </a:p>
        </p:txBody>
      </p:sp>
      <p:sp>
        <p:nvSpPr>
          <p:cNvPr id="17" name="Shape 12"/>
          <p:cNvSpPr/>
          <p:nvPr/>
        </p:nvSpPr>
        <p:spPr>
          <a:xfrm>
            <a:off x="2304288" y="4636008"/>
            <a:ext cx="4541012" cy="73152"/>
          </a:xfrm>
          <a:prstGeom prst="rect">
            <a:avLst/>
          </a:prstGeom>
          <a:solidFill>
            <a:srgbClr val="94A3B8"/>
          </a:solidFill>
          <a:ln w="12700">
            <a:solidFill>
              <a:srgbClr val="94A3B8"/>
            </a:solidFill>
            <a:prstDash val="solid"/>
          </a:ln>
        </p:spPr>
      </p:sp>
      <p:sp>
        <p:nvSpPr>
          <p:cNvPr id="18" name="Text 13"/>
          <p:cNvSpPr/>
          <p:nvPr/>
        </p:nvSpPr>
        <p:spPr>
          <a:xfrm>
            <a:off x="8887968" y="4599432"/>
            <a:ext cx="493776" cy="118872"/>
          </a:xfrm>
          <a:prstGeom prst="rect">
            <a:avLst/>
          </a:prstGeom>
          <a:noFill/>
          <a:ln/>
        </p:spPr>
        <p:txBody>
          <a:bodyPr wrap="square" lIns="0" tIns="0" rIns="0" bIns="0" rtlCol="0" anchor="ctr"/>
          <a:lstStyle/>
          <a:p>
            <a:pPr marL="0" indent="0">
              <a:buNone/>
            </a:pPr>
            <a:r>
              <a:rPr lang="en-US" sz="690" dirty="0">
                <a:solidFill>
                  <a:srgbClr val="DCE4F2"/>
                </a:solidFill>
              </a:rPr>
              <a:t>12.77</a:t>
            </a:r>
            <a:endParaRPr lang="en-US" sz="690" dirty="0"/>
          </a:p>
        </p:txBody>
      </p:sp>
      <p:sp>
        <p:nvSpPr>
          <p:cNvPr id="19" name="Text 14"/>
          <p:cNvSpPr/>
          <p:nvPr/>
        </p:nvSpPr>
        <p:spPr>
          <a:xfrm>
            <a:off x="987552" y="4754880"/>
            <a:ext cx="1188720" cy="118872"/>
          </a:xfrm>
          <a:prstGeom prst="rect">
            <a:avLst/>
          </a:prstGeom>
          <a:noFill/>
          <a:ln/>
        </p:spPr>
        <p:txBody>
          <a:bodyPr wrap="square" lIns="0" tIns="0" rIns="0" bIns="0" rtlCol="0" anchor="ctr">
            <a:normAutofit/>
          </a:bodyPr>
          <a:lstStyle/>
          <a:p>
            <a:pPr marL="0" indent="0" algn="r">
              <a:buNone/>
            </a:pPr>
            <a:r>
              <a:rPr lang="en-US" sz="680" dirty="0">
                <a:solidFill>
                  <a:srgbClr val="94A3B8"/>
                </a:solidFill>
              </a:rPr>
              <a:t>Double DQN</a:t>
            </a:r>
            <a:endParaRPr lang="en-US" sz="680" dirty="0"/>
          </a:p>
        </p:txBody>
      </p:sp>
      <p:sp>
        <p:nvSpPr>
          <p:cNvPr id="20" name="Shape 15"/>
          <p:cNvSpPr/>
          <p:nvPr/>
        </p:nvSpPr>
        <p:spPr>
          <a:xfrm>
            <a:off x="2304288" y="4782312"/>
            <a:ext cx="5646928" cy="73152"/>
          </a:xfrm>
          <a:prstGeom prst="rect">
            <a:avLst/>
          </a:prstGeom>
          <a:solidFill>
            <a:srgbClr val="86EFAC"/>
          </a:solidFill>
          <a:ln w="12700">
            <a:solidFill>
              <a:srgbClr val="86EFAC"/>
            </a:solidFill>
            <a:prstDash val="solid"/>
          </a:ln>
        </p:spPr>
      </p:sp>
      <p:sp>
        <p:nvSpPr>
          <p:cNvPr id="21" name="Text 16"/>
          <p:cNvSpPr/>
          <p:nvPr/>
        </p:nvSpPr>
        <p:spPr>
          <a:xfrm>
            <a:off x="8887968" y="4745736"/>
            <a:ext cx="493776" cy="118872"/>
          </a:xfrm>
          <a:prstGeom prst="rect">
            <a:avLst/>
          </a:prstGeom>
          <a:noFill/>
          <a:ln/>
        </p:spPr>
        <p:txBody>
          <a:bodyPr wrap="square" lIns="0" tIns="0" rIns="0" bIns="0" rtlCol="0" anchor="ctr"/>
          <a:lstStyle/>
          <a:p>
            <a:pPr marL="0" indent="0">
              <a:buNone/>
            </a:pPr>
            <a:r>
              <a:rPr lang="en-US" sz="690" dirty="0">
                <a:solidFill>
                  <a:srgbClr val="DCE4F2"/>
                </a:solidFill>
              </a:rPr>
              <a:t>15.88</a:t>
            </a:r>
            <a:endParaRPr lang="en-US" sz="690" dirty="0"/>
          </a:p>
        </p:txBody>
      </p:sp>
      <p:sp>
        <p:nvSpPr>
          <p:cNvPr id="22" name="Text 17"/>
          <p:cNvSpPr/>
          <p:nvPr/>
        </p:nvSpPr>
        <p:spPr>
          <a:xfrm>
            <a:off x="987552" y="4901184"/>
            <a:ext cx="1188720" cy="118872"/>
          </a:xfrm>
          <a:prstGeom prst="rect">
            <a:avLst/>
          </a:prstGeom>
          <a:noFill/>
          <a:ln/>
        </p:spPr>
        <p:txBody>
          <a:bodyPr wrap="square" lIns="0" tIns="0" rIns="0" bIns="0" rtlCol="0" anchor="ctr">
            <a:normAutofit/>
          </a:bodyPr>
          <a:lstStyle/>
          <a:p>
            <a:pPr marL="0" indent="0" algn="r">
              <a:buNone/>
            </a:pPr>
            <a:r>
              <a:rPr lang="en-US" sz="680" dirty="0">
                <a:solidFill>
                  <a:srgbClr val="94A3B8"/>
                </a:solidFill>
              </a:rPr>
              <a:t>ε exp</a:t>
            </a:r>
            <a:endParaRPr lang="en-US" sz="680" dirty="0"/>
          </a:p>
        </p:txBody>
      </p:sp>
      <p:sp>
        <p:nvSpPr>
          <p:cNvPr id="23" name="Shape 18"/>
          <p:cNvSpPr/>
          <p:nvPr/>
        </p:nvSpPr>
        <p:spPr>
          <a:xfrm>
            <a:off x="2304288" y="4928616"/>
            <a:ext cx="5291328" cy="73152"/>
          </a:xfrm>
          <a:prstGeom prst="rect">
            <a:avLst/>
          </a:prstGeom>
          <a:solidFill>
            <a:srgbClr val="7DD3FC"/>
          </a:solidFill>
          <a:ln w="12700">
            <a:solidFill>
              <a:srgbClr val="7DD3FC"/>
            </a:solidFill>
            <a:prstDash val="solid"/>
          </a:ln>
        </p:spPr>
      </p:sp>
      <p:sp>
        <p:nvSpPr>
          <p:cNvPr id="24" name="Text 19"/>
          <p:cNvSpPr/>
          <p:nvPr/>
        </p:nvSpPr>
        <p:spPr>
          <a:xfrm>
            <a:off x="8887968" y="4892040"/>
            <a:ext cx="493776" cy="118872"/>
          </a:xfrm>
          <a:prstGeom prst="rect">
            <a:avLst/>
          </a:prstGeom>
          <a:noFill/>
          <a:ln/>
        </p:spPr>
        <p:txBody>
          <a:bodyPr wrap="square" lIns="0" tIns="0" rIns="0" bIns="0" rtlCol="0" anchor="ctr"/>
          <a:lstStyle/>
          <a:p>
            <a:pPr marL="0" indent="0">
              <a:buNone/>
            </a:pPr>
            <a:r>
              <a:rPr lang="en-US" sz="690" dirty="0">
                <a:solidFill>
                  <a:srgbClr val="DCE4F2"/>
                </a:solidFill>
              </a:rPr>
              <a:t>14.88</a:t>
            </a:r>
            <a:endParaRPr lang="en-US" sz="690" dirty="0"/>
          </a:p>
        </p:txBody>
      </p:sp>
      <p:sp>
        <p:nvSpPr>
          <p:cNvPr id="25" name="Text 20"/>
          <p:cNvSpPr/>
          <p:nvPr/>
        </p:nvSpPr>
        <p:spPr>
          <a:xfrm>
            <a:off x="987552" y="5047488"/>
            <a:ext cx="1188720" cy="118872"/>
          </a:xfrm>
          <a:prstGeom prst="rect">
            <a:avLst/>
          </a:prstGeom>
          <a:noFill/>
          <a:ln/>
        </p:spPr>
        <p:txBody>
          <a:bodyPr wrap="square" lIns="0" tIns="0" rIns="0" bIns="0" rtlCol="0" anchor="ctr">
            <a:normAutofit/>
          </a:bodyPr>
          <a:lstStyle/>
          <a:p>
            <a:pPr marL="0" indent="0" algn="r">
              <a:buNone/>
            </a:pPr>
            <a:r>
              <a:rPr lang="en-US" sz="680" dirty="0">
                <a:solidFill>
                  <a:srgbClr val="94A3B8"/>
                </a:solidFill>
              </a:rPr>
              <a:t>Rally mod.</a:t>
            </a:r>
            <a:endParaRPr lang="en-US" sz="680" dirty="0"/>
          </a:p>
        </p:txBody>
      </p:sp>
      <p:sp>
        <p:nvSpPr>
          <p:cNvPr id="26" name="Shape 21"/>
          <p:cNvSpPr/>
          <p:nvPr/>
        </p:nvSpPr>
        <p:spPr>
          <a:xfrm>
            <a:off x="2304288" y="5074920"/>
            <a:ext cx="5398008" cy="73152"/>
          </a:xfrm>
          <a:prstGeom prst="rect">
            <a:avLst/>
          </a:prstGeom>
          <a:solidFill>
            <a:srgbClr val="FCD34D"/>
          </a:solidFill>
          <a:ln w="12700">
            <a:solidFill>
              <a:srgbClr val="FCD34D"/>
            </a:solidFill>
            <a:prstDash val="solid"/>
          </a:ln>
        </p:spPr>
      </p:sp>
      <p:sp>
        <p:nvSpPr>
          <p:cNvPr id="27" name="Text 22"/>
          <p:cNvSpPr/>
          <p:nvPr/>
        </p:nvSpPr>
        <p:spPr>
          <a:xfrm>
            <a:off x="8887968" y="5038344"/>
            <a:ext cx="493776" cy="118872"/>
          </a:xfrm>
          <a:prstGeom prst="rect">
            <a:avLst/>
          </a:prstGeom>
          <a:noFill/>
          <a:ln/>
        </p:spPr>
        <p:txBody>
          <a:bodyPr wrap="square" lIns="0" tIns="0" rIns="0" bIns="0" rtlCol="0" anchor="ctr"/>
          <a:lstStyle/>
          <a:p>
            <a:pPr marL="0" indent="0">
              <a:buNone/>
            </a:pPr>
            <a:r>
              <a:rPr lang="en-US" sz="690" dirty="0">
                <a:solidFill>
                  <a:srgbClr val="DCE4F2"/>
                </a:solidFill>
              </a:rPr>
              <a:t>15.18</a:t>
            </a:r>
            <a:endParaRPr lang="en-US" sz="690" dirty="0"/>
          </a:p>
        </p:txBody>
      </p:sp>
      <p:sp>
        <p:nvSpPr>
          <p:cNvPr id="28" name="Text 23"/>
          <p:cNvSpPr/>
          <p:nvPr/>
        </p:nvSpPr>
        <p:spPr>
          <a:xfrm>
            <a:off x="987552" y="5193792"/>
            <a:ext cx="1188720" cy="118872"/>
          </a:xfrm>
          <a:prstGeom prst="rect">
            <a:avLst/>
          </a:prstGeom>
          <a:noFill/>
          <a:ln/>
        </p:spPr>
        <p:txBody>
          <a:bodyPr wrap="square" lIns="0" tIns="0" rIns="0" bIns="0" rtlCol="0" anchor="ctr">
            <a:normAutofit/>
          </a:bodyPr>
          <a:lstStyle/>
          <a:p>
            <a:pPr marL="0" indent="0" algn="r">
              <a:buNone/>
            </a:pPr>
            <a:r>
              <a:rPr lang="en-US" sz="680" dirty="0">
                <a:solidFill>
                  <a:srgbClr val="94A3B8"/>
                </a:solidFill>
              </a:rPr>
              <a:t>PBRS κ=0.50</a:t>
            </a:r>
            <a:endParaRPr lang="en-US" sz="680" dirty="0"/>
          </a:p>
        </p:txBody>
      </p:sp>
      <p:sp>
        <p:nvSpPr>
          <p:cNvPr id="29" name="Shape 24"/>
          <p:cNvSpPr/>
          <p:nvPr/>
        </p:nvSpPr>
        <p:spPr>
          <a:xfrm>
            <a:off x="2304288" y="5221224"/>
            <a:ext cx="5838952" cy="73152"/>
          </a:xfrm>
          <a:prstGeom prst="rect">
            <a:avLst/>
          </a:prstGeom>
          <a:solidFill>
            <a:srgbClr val="A78BFA"/>
          </a:solidFill>
          <a:ln w="12700">
            <a:solidFill>
              <a:srgbClr val="A78BFA"/>
            </a:solidFill>
            <a:prstDash val="solid"/>
          </a:ln>
        </p:spPr>
      </p:sp>
      <p:sp>
        <p:nvSpPr>
          <p:cNvPr id="30" name="Text 25"/>
          <p:cNvSpPr/>
          <p:nvPr/>
        </p:nvSpPr>
        <p:spPr>
          <a:xfrm>
            <a:off x="8887968" y="5184648"/>
            <a:ext cx="493776" cy="118872"/>
          </a:xfrm>
          <a:prstGeom prst="rect">
            <a:avLst/>
          </a:prstGeom>
          <a:noFill/>
          <a:ln/>
        </p:spPr>
        <p:txBody>
          <a:bodyPr wrap="square" lIns="0" tIns="0" rIns="0" bIns="0" rtlCol="0" anchor="ctr"/>
          <a:lstStyle/>
          <a:p>
            <a:pPr marL="0" indent="0">
              <a:buNone/>
            </a:pPr>
            <a:r>
              <a:rPr lang="en-US" sz="690" dirty="0">
                <a:solidFill>
                  <a:srgbClr val="DCE4F2"/>
                </a:solidFill>
              </a:rPr>
              <a:t>16.42</a:t>
            </a:r>
            <a:endParaRPr lang="en-US" sz="690" dirty="0"/>
          </a:p>
        </p:txBody>
      </p:sp>
      <p:sp>
        <p:nvSpPr>
          <p:cNvPr id="31" name="Text 26"/>
          <p:cNvSpPr/>
          <p:nvPr/>
        </p:nvSpPr>
        <p:spPr>
          <a:xfrm>
            <a:off x="987552" y="5340096"/>
            <a:ext cx="1188720" cy="118872"/>
          </a:xfrm>
          <a:prstGeom prst="rect">
            <a:avLst/>
          </a:prstGeom>
          <a:noFill/>
          <a:ln/>
        </p:spPr>
        <p:txBody>
          <a:bodyPr wrap="square" lIns="0" tIns="0" rIns="0" bIns="0" rtlCol="0" anchor="ctr">
            <a:normAutofit/>
          </a:bodyPr>
          <a:lstStyle/>
          <a:p>
            <a:pPr marL="0" indent="0" algn="r">
              <a:buNone/>
            </a:pPr>
            <a:r>
              <a:rPr lang="en-US" sz="680" dirty="0">
                <a:solidFill>
                  <a:srgbClr val="94A3B8"/>
                </a:solidFill>
              </a:rPr>
              <a:t>Contact c=0.10</a:t>
            </a:r>
            <a:endParaRPr lang="en-US" sz="680" dirty="0"/>
          </a:p>
        </p:txBody>
      </p:sp>
      <p:sp>
        <p:nvSpPr>
          <p:cNvPr id="32" name="Shape 27"/>
          <p:cNvSpPr/>
          <p:nvPr/>
        </p:nvSpPr>
        <p:spPr>
          <a:xfrm>
            <a:off x="2304288" y="5367528"/>
            <a:ext cx="5181092" cy="73152"/>
          </a:xfrm>
          <a:prstGeom prst="rect">
            <a:avLst/>
          </a:prstGeom>
          <a:solidFill>
            <a:srgbClr val="FDA4AF"/>
          </a:solidFill>
          <a:ln w="12700">
            <a:solidFill>
              <a:srgbClr val="FDA4AF"/>
            </a:solidFill>
            <a:prstDash val="solid"/>
          </a:ln>
        </p:spPr>
      </p:sp>
      <p:sp>
        <p:nvSpPr>
          <p:cNvPr id="33" name="Text 28"/>
          <p:cNvSpPr/>
          <p:nvPr/>
        </p:nvSpPr>
        <p:spPr>
          <a:xfrm>
            <a:off x="8887968" y="5330952"/>
            <a:ext cx="493776" cy="118872"/>
          </a:xfrm>
          <a:prstGeom prst="rect">
            <a:avLst/>
          </a:prstGeom>
          <a:noFill/>
          <a:ln/>
        </p:spPr>
        <p:txBody>
          <a:bodyPr wrap="square" lIns="0" tIns="0" rIns="0" bIns="0" rtlCol="0" anchor="ctr"/>
          <a:lstStyle/>
          <a:p>
            <a:pPr marL="0" indent="0">
              <a:buNone/>
            </a:pPr>
            <a:r>
              <a:rPr lang="en-US" sz="690" dirty="0">
                <a:solidFill>
                  <a:srgbClr val="DCE4F2"/>
                </a:solidFill>
              </a:rPr>
              <a:t>14.57</a:t>
            </a:r>
            <a:endParaRPr lang="en-US" sz="690" dirty="0"/>
          </a:p>
        </p:txBody>
      </p:sp>
      <p:sp>
        <p:nvSpPr>
          <p:cNvPr id="34" name="Shape 29"/>
          <p:cNvSpPr/>
          <p:nvPr/>
        </p:nvSpPr>
        <p:spPr>
          <a:xfrm>
            <a:off x="9646920" y="4407408"/>
            <a:ext cx="1499616" cy="749808"/>
          </a:xfrm>
          <a:prstGeom prst="roundRect">
            <a:avLst>
              <a:gd name="adj" fmla="val 12195"/>
            </a:avLst>
          </a:prstGeom>
          <a:solidFill>
            <a:srgbClr val="141E39"/>
          </a:solidFill>
          <a:ln w="12700">
            <a:solidFill>
              <a:srgbClr val="A78BFA">
                <a:alpha val="60000"/>
              </a:srgbClr>
            </a:solidFill>
            <a:prstDash val="solid"/>
          </a:ln>
        </p:spPr>
      </p:sp>
      <p:sp>
        <p:nvSpPr>
          <p:cNvPr id="35" name="Text 30"/>
          <p:cNvSpPr/>
          <p:nvPr/>
        </p:nvSpPr>
        <p:spPr>
          <a:xfrm>
            <a:off x="9811512" y="4535424"/>
            <a:ext cx="1170432" cy="137160"/>
          </a:xfrm>
          <a:prstGeom prst="rect">
            <a:avLst/>
          </a:prstGeom>
          <a:noFill/>
          <a:ln/>
        </p:spPr>
        <p:txBody>
          <a:bodyPr wrap="square" lIns="0" tIns="0" rIns="0" bIns="0" rtlCol="0" anchor="ctr"/>
          <a:lstStyle/>
          <a:p>
            <a:pPr marL="0" indent="0" algn="ctr">
              <a:buNone/>
            </a:pPr>
            <a:r>
              <a:rPr lang="en-US" sz="740" dirty="0">
                <a:solidFill>
                  <a:srgbClr val="94A3B8"/>
                </a:solidFill>
              </a:rPr>
              <a:t>miglior finale</a:t>
            </a:r>
            <a:endParaRPr lang="en-US" sz="740" dirty="0"/>
          </a:p>
        </p:txBody>
      </p:sp>
      <p:sp>
        <p:nvSpPr>
          <p:cNvPr id="36" name="Text 31"/>
          <p:cNvSpPr/>
          <p:nvPr/>
        </p:nvSpPr>
        <p:spPr>
          <a:xfrm>
            <a:off x="9774936" y="4718304"/>
            <a:ext cx="1243584" cy="201168"/>
          </a:xfrm>
          <a:prstGeom prst="rect">
            <a:avLst/>
          </a:prstGeom>
          <a:noFill/>
          <a:ln/>
        </p:spPr>
        <p:txBody>
          <a:bodyPr wrap="square" lIns="0" tIns="0" rIns="0" bIns="0" rtlCol="0" anchor="ctr"/>
          <a:lstStyle/>
          <a:p>
            <a:pPr marL="0" indent="0" algn="ctr">
              <a:buNone/>
            </a:pPr>
            <a:r>
              <a:rPr lang="en-US" sz="1300" b="1" dirty="0">
                <a:solidFill>
                  <a:srgbClr val="A78BFA"/>
                </a:solidFill>
              </a:rPr>
              <a:t>PBRS 0.50</a:t>
            </a:r>
            <a:endParaRPr lang="en-US" sz="1300" dirty="0"/>
          </a:p>
        </p:txBody>
      </p:sp>
      <p:sp>
        <p:nvSpPr>
          <p:cNvPr id="38"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E7897"/>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658368" y="256032"/>
            <a:ext cx="10789920" cy="237744"/>
          </a:xfrm>
          <a:prstGeom prst="rect">
            <a:avLst/>
          </a:prstGeom>
          <a:noFill/>
          <a:ln/>
        </p:spPr>
        <p:txBody>
          <a:bodyPr wrap="square" lIns="0" tIns="0" rIns="0" bIns="0" rtlCol="0" anchor="ctr"/>
          <a:lstStyle/>
          <a:p>
            <a:pPr marL="0" indent="0">
              <a:buNone/>
            </a:pPr>
            <a:r>
              <a:rPr lang="en-US" sz="850" b="1" dirty="0">
                <a:solidFill>
                  <a:srgbClr val="7DD3FC"/>
                </a:solidFill>
                <a:latin typeface="Aptos"/>
                <a:ea typeface="Aptos" pitchFamily="34" charset="-122"/>
                <a:cs typeface="Aptos" pitchFamily="34" charset="-120"/>
              </a:rPr>
              <a:t>ESPERIMENTI </a:t>
            </a:r>
            <a:endParaRPr lang="en-US" sz="850" dirty="0">
              <a:latin typeface="Aptos"/>
            </a:endParaRPr>
          </a:p>
        </p:txBody>
      </p:sp>
      <p:sp>
        <p:nvSpPr>
          <p:cNvPr id="3" name="Text 1"/>
          <p:cNvSpPr/>
          <p:nvPr/>
        </p:nvSpPr>
        <p:spPr>
          <a:xfrm>
            <a:off x="658368" y="566928"/>
            <a:ext cx="10835640" cy="530352"/>
          </a:xfrm>
          <a:prstGeom prst="rect">
            <a:avLst/>
          </a:prstGeom>
          <a:noFill/>
          <a:ln/>
        </p:spPr>
        <p:txBody>
          <a:bodyPr wrap="square" lIns="0" tIns="0" rIns="0" bIns="0" rtlCol="0" anchor="ctr">
            <a:normAutofit/>
          </a:bodyPr>
          <a:lstStyle/>
          <a:p>
            <a:pPr marL="0" indent="0">
              <a:buNone/>
            </a:pPr>
            <a:r>
              <a:rPr lang="en-US" sz="2500" b="1" dirty="0">
                <a:solidFill>
                  <a:srgbClr val="F8FAFC"/>
                </a:solidFill>
                <a:latin typeface="Aptos Display"/>
                <a:ea typeface="Aptos Display" pitchFamily="34" charset="-122"/>
                <a:cs typeface="Aptos Display" pitchFamily="34" charset="-120"/>
              </a:rPr>
              <a:t>Failure case: un bonus </a:t>
            </a:r>
            <a:r>
              <a:rPr lang="en-US" sz="2500" b="1" dirty="0" err="1">
                <a:solidFill>
                  <a:srgbClr val="F8FAFC"/>
                </a:solidFill>
                <a:latin typeface="Aptos Display"/>
                <a:ea typeface="Aptos Display" pitchFamily="34" charset="-122"/>
                <a:cs typeface="Aptos Display" pitchFamily="34" charset="-120"/>
              </a:rPr>
              <a:t>troppo</a:t>
            </a:r>
            <a:r>
              <a:rPr lang="en-US" sz="2500" b="1" dirty="0">
                <a:solidFill>
                  <a:srgbClr val="F8FAFC"/>
                </a:solidFill>
                <a:latin typeface="Aptos Display"/>
                <a:ea typeface="Aptos Display" pitchFamily="34" charset="-122"/>
                <a:cs typeface="Aptos Display" pitchFamily="34" charset="-120"/>
              </a:rPr>
              <a:t> forte </a:t>
            </a:r>
            <a:r>
              <a:rPr lang="en-US" sz="2500" b="1" dirty="0" err="1">
                <a:solidFill>
                  <a:srgbClr val="F8FAFC"/>
                </a:solidFill>
                <a:latin typeface="Aptos Display"/>
                <a:ea typeface="Aptos Display" pitchFamily="34" charset="-122"/>
                <a:cs typeface="Aptos Display" pitchFamily="34" charset="-120"/>
              </a:rPr>
              <a:t>può</a:t>
            </a:r>
            <a:r>
              <a:rPr lang="en-US" sz="2500" b="1" dirty="0">
                <a:solidFill>
                  <a:srgbClr val="F8FAFC"/>
                </a:solidFill>
                <a:latin typeface="Aptos Display"/>
                <a:ea typeface="Aptos Display" pitchFamily="34" charset="-122"/>
                <a:cs typeface="Aptos Display" pitchFamily="34" charset="-120"/>
              </a:rPr>
              <a:t> </a:t>
            </a:r>
            <a:r>
              <a:rPr lang="en-US" sz="2500" b="1" dirty="0" err="1">
                <a:solidFill>
                  <a:srgbClr val="F8FAFC"/>
                </a:solidFill>
                <a:latin typeface="Aptos Display"/>
                <a:ea typeface="Aptos Display" pitchFamily="34" charset="-122"/>
                <a:cs typeface="Aptos Display" pitchFamily="34" charset="-120"/>
              </a:rPr>
              <a:t>distorcere</a:t>
            </a:r>
            <a:r>
              <a:rPr lang="en-US" sz="2500" b="1" dirty="0">
                <a:solidFill>
                  <a:srgbClr val="F8FAFC"/>
                </a:solidFill>
                <a:latin typeface="Aptos Display"/>
                <a:ea typeface="Aptos Display" pitchFamily="34" charset="-122"/>
                <a:cs typeface="Aptos Display" pitchFamily="34" charset="-120"/>
              </a:rPr>
              <a:t> il training</a:t>
            </a:r>
            <a:endParaRPr lang="en-US" sz="2500" dirty="0">
              <a:latin typeface="Aptos Display"/>
            </a:endParaRPr>
          </a:p>
        </p:txBody>
      </p:sp>
      <p:sp>
        <p:nvSpPr>
          <p:cNvPr id="5" name="Shape 3"/>
          <p:cNvSpPr/>
          <p:nvPr/>
        </p:nvSpPr>
        <p:spPr>
          <a:xfrm>
            <a:off x="713232" y="1627632"/>
            <a:ext cx="3703320" cy="2240280"/>
          </a:xfrm>
          <a:prstGeom prst="roundRect">
            <a:avLst>
              <a:gd name="adj" fmla="val 4082"/>
            </a:avLst>
          </a:prstGeom>
          <a:solidFill>
            <a:srgbClr val="FFFFFF"/>
          </a:solidFill>
          <a:ln w="12700">
            <a:solidFill>
              <a:srgbClr val="233153">
                <a:alpha val="80000"/>
              </a:srgbClr>
            </a:solidFill>
            <a:prstDash val="solid"/>
          </a:ln>
        </p:spPr>
      </p:sp>
      <p:pic>
        <p:nvPicPr>
          <p:cNvPr id="6" name="Image 0" descr="/mnt/data/pong_proj/pong_project/figures/report/13_contact_multiseed_evaluation.png"/>
          <p:cNvPicPr>
            <a:picLocks noChangeAspect="1"/>
          </p:cNvPicPr>
          <p:nvPr/>
        </p:nvPicPr>
        <p:blipFill>
          <a:blip r:embed="rId3"/>
          <a:stretch>
            <a:fillRect/>
          </a:stretch>
        </p:blipFill>
        <p:spPr>
          <a:xfrm>
            <a:off x="818212" y="1691640"/>
            <a:ext cx="3493360" cy="2112264"/>
          </a:xfrm>
          <a:prstGeom prst="rect">
            <a:avLst/>
          </a:prstGeom>
        </p:spPr>
      </p:pic>
      <p:sp>
        <p:nvSpPr>
          <p:cNvPr id="7" name="Text 4"/>
          <p:cNvSpPr/>
          <p:nvPr/>
        </p:nvSpPr>
        <p:spPr>
          <a:xfrm>
            <a:off x="713232" y="3922776"/>
            <a:ext cx="3703320" cy="201168"/>
          </a:xfrm>
          <a:prstGeom prst="rect">
            <a:avLst/>
          </a:prstGeom>
          <a:noFill/>
          <a:ln/>
        </p:spPr>
        <p:txBody>
          <a:bodyPr wrap="square" lIns="0" tIns="0" rIns="0" bIns="0" rtlCol="0" anchor="ctr">
            <a:normAutofit/>
          </a:bodyPr>
          <a:lstStyle/>
          <a:p>
            <a:pPr marL="0" indent="0">
              <a:buNone/>
            </a:pPr>
            <a:r>
              <a:rPr lang="en-US" sz="750" dirty="0">
                <a:solidFill>
                  <a:srgbClr val="94A3B8"/>
                </a:solidFill>
              </a:rPr>
              <a:t>Contact reward: c=0.50 molto instabile</a:t>
            </a:r>
            <a:endParaRPr lang="en-US" sz="750" dirty="0"/>
          </a:p>
        </p:txBody>
      </p:sp>
      <p:sp>
        <p:nvSpPr>
          <p:cNvPr id="8" name="Shape 5"/>
          <p:cNvSpPr/>
          <p:nvPr/>
        </p:nvSpPr>
        <p:spPr>
          <a:xfrm>
            <a:off x="4617720" y="1627632"/>
            <a:ext cx="3547872" cy="2240280"/>
          </a:xfrm>
          <a:prstGeom prst="roundRect">
            <a:avLst>
              <a:gd name="adj" fmla="val 4082"/>
            </a:avLst>
          </a:prstGeom>
          <a:solidFill>
            <a:srgbClr val="FFFFFF"/>
          </a:solidFill>
          <a:ln w="12700">
            <a:solidFill>
              <a:srgbClr val="233153">
                <a:alpha val="80000"/>
              </a:srgbClr>
            </a:solidFill>
            <a:prstDash val="solid"/>
          </a:ln>
        </p:spPr>
      </p:sp>
      <p:pic>
        <p:nvPicPr>
          <p:cNvPr id="9" name="Image 1" descr="/mnt/data/pong_proj/pong_project/figures/report/06_baseline_policy_heatmaps.png"/>
          <p:cNvPicPr>
            <a:picLocks noChangeAspect="1"/>
          </p:cNvPicPr>
          <p:nvPr/>
        </p:nvPicPr>
        <p:blipFill>
          <a:blip r:embed="rId4"/>
          <a:stretch>
            <a:fillRect/>
          </a:stretch>
        </p:blipFill>
        <p:spPr>
          <a:xfrm>
            <a:off x="5076451" y="1691640"/>
            <a:ext cx="2630409" cy="2112264"/>
          </a:xfrm>
          <a:prstGeom prst="rect">
            <a:avLst/>
          </a:prstGeom>
        </p:spPr>
      </p:pic>
      <p:sp>
        <p:nvSpPr>
          <p:cNvPr id="10" name="Text 6"/>
          <p:cNvSpPr/>
          <p:nvPr/>
        </p:nvSpPr>
        <p:spPr>
          <a:xfrm>
            <a:off x="4617720" y="3922776"/>
            <a:ext cx="3547872" cy="201168"/>
          </a:xfrm>
          <a:prstGeom prst="rect">
            <a:avLst/>
          </a:prstGeom>
          <a:noFill/>
          <a:ln/>
        </p:spPr>
        <p:txBody>
          <a:bodyPr wrap="square" lIns="0" tIns="0" rIns="0" bIns="0" rtlCol="0" anchor="ctr">
            <a:normAutofit/>
          </a:bodyPr>
          <a:lstStyle/>
          <a:p>
            <a:pPr marL="0" indent="0">
              <a:buNone/>
            </a:pPr>
            <a:r>
              <a:rPr lang="en-US" sz="750" dirty="0">
                <a:solidFill>
                  <a:srgbClr val="94A3B8"/>
                </a:solidFill>
              </a:rPr>
              <a:t>Heatmap policy greedy: proiezione parziale della policy</a:t>
            </a:r>
            <a:endParaRPr lang="en-US" sz="750" dirty="0"/>
          </a:p>
        </p:txBody>
      </p:sp>
      <p:sp>
        <p:nvSpPr>
          <p:cNvPr id="11" name="Shape 7"/>
          <p:cNvSpPr/>
          <p:nvPr/>
        </p:nvSpPr>
        <p:spPr>
          <a:xfrm>
            <a:off x="8366760" y="1627632"/>
            <a:ext cx="2816352" cy="950976"/>
          </a:xfrm>
          <a:prstGeom prst="roundRect">
            <a:avLst>
              <a:gd name="adj" fmla="val 9615"/>
            </a:avLst>
          </a:prstGeom>
          <a:solidFill>
            <a:srgbClr val="FFFFFF"/>
          </a:solidFill>
          <a:ln w="12700">
            <a:solidFill>
              <a:srgbClr val="233153">
                <a:alpha val="80000"/>
              </a:srgbClr>
            </a:solidFill>
            <a:prstDash val="solid"/>
          </a:ln>
        </p:spPr>
      </p:sp>
      <p:pic>
        <p:nvPicPr>
          <p:cNvPr id="12" name="Image 2" descr="/mnt/data/pong_proj/pong_project/figures/report/09_detector_check.png"/>
          <p:cNvPicPr>
            <a:picLocks noChangeAspect="1"/>
          </p:cNvPicPr>
          <p:nvPr/>
        </p:nvPicPr>
        <p:blipFill>
          <a:blip r:embed="rId5"/>
          <a:stretch>
            <a:fillRect/>
          </a:stretch>
        </p:blipFill>
        <p:spPr>
          <a:xfrm>
            <a:off x="8430768" y="1862169"/>
            <a:ext cx="2688336" cy="481902"/>
          </a:xfrm>
          <a:prstGeom prst="rect">
            <a:avLst/>
          </a:prstGeom>
        </p:spPr>
      </p:pic>
      <p:sp>
        <p:nvSpPr>
          <p:cNvPr id="13" name="Text 8"/>
          <p:cNvSpPr/>
          <p:nvPr/>
        </p:nvSpPr>
        <p:spPr>
          <a:xfrm>
            <a:off x="8366760" y="2633472"/>
            <a:ext cx="2816352" cy="201168"/>
          </a:xfrm>
          <a:prstGeom prst="rect">
            <a:avLst/>
          </a:prstGeom>
          <a:noFill/>
          <a:ln/>
        </p:spPr>
        <p:txBody>
          <a:bodyPr wrap="square" lIns="0" tIns="0" rIns="0" bIns="0" rtlCol="0" anchor="ctr">
            <a:normAutofit/>
          </a:bodyPr>
          <a:lstStyle/>
          <a:p>
            <a:pPr marL="0" indent="0">
              <a:buNone/>
            </a:pPr>
            <a:r>
              <a:rPr lang="en-US" sz="750" dirty="0">
                <a:solidFill>
                  <a:srgbClr val="94A3B8"/>
                </a:solidFill>
              </a:rPr>
              <a:t>Detector geometrico: visualizzazione, non training</a:t>
            </a:r>
            <a:endParaRPr lang="en-US" sz="750" dirty="0"/>
          </a:p>
        </p:txBody>
      </p:sp>
      <p:sp>
        <p:nvSpPr>
          <p:cNvPr id="14" name="Shape 9"/>
          <p:cNvSpPr/>
          <p:nvPr/>
        </p:nvSpPr>
        <p:spPr>
          <a:xfrm>
            <a:off x="8375904" y="2880360"/>
            <a:ext cx="2816352" cy="987552"/>
          </a:xfrm>
          <a:prstGeom prst="roundRect">
            <a:avLst>
              <a:gd name="adj" fmla="val 9259"/>
            </a:avLst>
          </a:prstGeom>
          <a:solidFill>
            <a:srgbClr val="0D1630"/>
          </a:solidFill>
          <a:ln w="12700">
            <a:solidFill>
              <a:srgbClr val="7DD3FC">
                <a:alpha val="55000"/>
              </a:srgbClr>
            </a:solidFill>
            <a:prstDash val="solid"/>
          </a:ln>
        </p:spPr>
      </p:sp>
      <p:sp>
        <p:nvSpPr>
          <p:cNvPr id="15" name="Text 10"/>
          <p:cNvSpPr/>
          <p:nvPr/>
        </p:nvSpPr>
        <p:spPr>
          <a:xfrm>
            <a:off x="8549640" y="3026664"/>
            <a:ext cx="2468880" cy="146304"/>
          </a:xfrm>
          <a:prstGeom prst="rect">
            <a:avLst/>
          </a:prstGeom>
          <a:noFill/>
          <a:ln/>
        </p:spPr>
        <p:txBody>
          <a:bodyPr wrap="square" lIns="0" tIns="0" rIns="0" bIns="0" rtlCol="0" anchor="ctr"/>
          <a:lstStyle/>
          <a:p>
            <a:pPr marL="0" indent="0" algn="ctr">
              <a:buNone/>
            </a:pPr>
            <a:r>
              <a:rPr lang="en-US" sz="780" dirty="0">
                <a:solidFill>
                  <a:srgbClr val="94A3B8"/>
                </a:solidFill>
              </a:rPr>
              <a:t>copertura detector</a:t>
            </a:r>
            <a:endParaRPr lang="en-US" sz="780" dirty="0"/>
          </a:p>
        </p:txBody>
      </p:sp>
      <p:sp>
        <p:nvSpPr>
          <p:cNvPr id="16" name="Text 11"/>
          <p:cNvSpPr/>
          <p:nvPr/>
        </p:nvSpPr>
        <p:spPr>
          <a:xfrm>
            <a:off x="8659368" y="3218688"/>
            <a:ext cx="2157984" cy="329184"/>
          </a:xfrm>
          <a:prstGeom prst="rect">
            <a:avLst/>
          </a:prstGeom>
          <a:noFill/>
          <a:ln/>
        </p:spPr>
        <p:txBody>
          <a:bodyPr wrap="square" lIns="0" tIns="0" rIns="0" bIns="0" rtlCol="0" anchor="ctr"/>
          <a:lstStyle/>
          <a:p>
            <a:pPr marL="0" indent="0" algn="ctr">
              <a:buNone/>
            </a:pPr>
            <a:r>
              <a:rPr lang="en-US" sz="2800" b="1" dirty="0">
                <a:solidFill>
                  <a:srgbClr val="7DD3FC"/>
                </a:solidFill>
              </a:rPr>
              <a:t>≈62%</a:t>
            </a:r>
            <a:endParaRPr lang="en-US" sz="2800" dirty="0"/>
          </a:p>
        </p:txBody>
      </p:sp>
      <p:sp>
        <p:nvSpPr>
          <p:cNvPr id="17" name="Text 12"/>
          <p:cNvSpPr/>
          <p:nvPr/>
        </p:nvSpPr>
        <p:spPr>
          <a:xfrm>
            <a:off x="8613648" y="3602736"/>
            <a:ext cx="2240280" cy="146304"/>
          </a:xfrm>
          <a:prstGeom prst="rect">
            <a:avLst/>
          </a:prstGeom>
          <a:noFill/>
          <a:ln/>
        </p:spPr>
        <p:txBody>
          <a:bodyPr wrap="square" lIns="0" tIns="0" rIns="0" bIns="0" rtlCol="0" anchor="ctr">
            <a:normAutofit/>
          </a:bodyPr>
          <a:lstStyle/>
          <a:p>
            <a:pPr marL="0" indent="0" algn="ctr">
              <a:buNone/>
            </a:pPr>
            <a:r>
              <a:rPr lang="en-US" sz="740" dirty="0">
                <a:solidFill>
                  <a:srgbClr val="94A3B8"/>
                </a:solidFill>
              </a:rPr>
              <a:t>il 38% degli stati non entra nelle heatmap</a:t>
            </a:r>
            <a:endParaRPr lang="en-US" sz="740" dirty="0"/>
          </a:p>
        </p:txBody>
      </p:sp>
      <p:sp>
        <p:nvSpPr>
          <p:cNvPr id="18" name="Shape 13"/>
          <p:cNvSpPr/>
          <p:nvPr/>
        </p:nvSpPr>
        <p:spPr>
          <a:xfrm>
            <a:off x="969264" y="4572000"/>
            <a:ext cx="10012680" cy="1042416"/>
          </a:xfrm>
          <a:prstGeom prst="roundRect">
            <a:avLst>
              <a:gd name="adj" fmla="val 8772"/>
            </a:avLst>
          </a:prstGeom>
          <a:solidFill>
            <a:srgbClr val="171B2F"/>
          </a:solidFill>
          <a:ln w="12700">
            <a:solidFill>
              <a:srgbClr val="FDA4AF">
                <a:alpha val="65000"/>
              </a:srgbClr>
            </a:solidFill>
            <a:prstDash val="solid"/>
          </a:ln>
        </p:spPr>
      </p:sp>
      <p:sp>
        <p:nvSpPr>
          <p:cNvPr id="19" name="Text 14"/>
          <p:cNvSpPr/>
          <p:nvPr/>
        </p:nvSpPr>
        <p:spPr>
          <a:xfrm>
            <a:off x="1170432" y="4736592"/>
            <a:ext cx="2926080" cy="182880"/>
          </a:xfrm>
          <a:prstGeom prst="rect">
            <a:avLst/>
          </a:prstGeom>
          <a:noFill/>
          <a:ln/>
        </p:spPr>
        <p:txBody>
          <a:bodyPr wrap="square" lIns="0" tIns="0" rIns="0" bIns="0" rtlCol="0" anchor="ctr"/>
          <a:lstStyle/>
          <a:p>
            <a:pPr marL="0" indent="0">
              <a:buNone/>
            </a:pPr>
            <a:r>
              <a:rPr lang="en-US" sz="1150" b="1" dirty="0">
                <a:solidFill>
                  <a:srgbClr val="FDA4AF"/>
                </a:solidFill>
              </a:rPr>
              <a:t>Cosa </a:t>
            </a:r>
            <a:r>
              <a:rPr lang="en-US" sz="1150" b="1" dirty="0" err="1">
                <a:solidFill>
                  <a:srgbClr val="FDA4AF"/>
                </a:solidFill>
              </a:rPr>
              <a:t>osserviamo</a:t>
            </a:r>
            <a:r>
              <a:rPr lang="en-US" sz="1150" b="1" dirty="0">
                <a:solidFill>
                  <a:srgbClr val="FDA4AF"/>
                </a:solidFill>
              </a:rPr>
              <a:t>?</a:t>
            </a:r>
            <a:endParaRPr lang="en-US" sz="1150" dirty="0"/>
          </a:p>
        </p:txBody>
      </p:sp>
      <p:sp>
        <p:nvSpPr>
          <p:cNvPr id="20" name="Text 15"/>
          <p:cNvSpPr/>
          <p:nvPr/>
        </p:nvSpPr>
        <p:spPr>
          <a:xfrm>
            <a:off x="1188720" y="5047488"/>
            <a:ext cx="9418320" cy="502920"/>
          </a:xfrm>
          <a:prstGeom prst="rect">
            <a:avLst/>
          </a:prstGeom>
          <a:noFill/>
          <a:ln/>
        </p:spPr>
        <p:txBody>
          <a:bodyPr wrap="square" lIns="0" tIns="0" rIns="0" bIns="0" rtlCol="0" anchor="ctr">
            <a:normAutofit lnSpcReduction="10000"/>
          </a:bodyPr>
          <a:lstStyle/>
          <a:p>
            <a:r>
              <a:rPr sz="1200">
                <a:solidFill>
                  <a:srgbClr val="E2E8F0"/>
                </a:solidFill>
                <a:latin typeface="Arial"/>
              </a:rPr>
              <a:t>• Bonus aggressivi → traiettorie degenerative.</a:t>
            </a:r>
          </a:p>
          <a:p>
            <a:r>
              <a:rPr sz="1200">
                <a:solidFill>
                  <a:srgbClr val="E2E8F0"/>
                </a:solidFill>
                <a:latin typeface="Arial"/>
              </a:rPr>
              <a:t>• Contact detector sparso: pochi eventi pesano molto.</a:t>
            </a:r>
          </a:p>
          <a:p>
            <a:r>
              <a:rPr sz="1200">
                <a:solidFill>
                  <a:srgbClr val="E2E8F0"/>
                </a:solidFill>
                <a:latin typeface="Arial"/>
              </a:rPr>
              <a:t>• Heatmap post-hoc; PBRS con detector parziale riduce la fedeltà teorica del potenziale.</a:t>
            </a:r>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E7897"/>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a:effectLst/>
      </p:bgPr>
    </p:bg>
    <p:spTree>
      <p:nvGrpSpPr>
        <p:cNvPr id="1" name=""/>
        <p:cNvGrpSpPr/>
        <p:nvPr/>
      </p:nvGrpSpPr>
      <p:grpSpPr>
        <a:xfrm>
          <a:off x="0" y="0"/>
          <a:ext cx="0" cy="0"/>
          <a:chOff x="0" y="0"/>
          <a:chExt cx="0" cy="0"/>
        </a:xfrm>
      </p:grpSpPr>
      <p:sp>
        <p:nvSpPr>
          <p:cNvPr id="2" name="Text 0"/>
          <p:cNvSpPr/>
          <p:nvPr/>
        </p:nvSpPr>
        <p:spPr>
          <a:xfrm>
            <a:off x="658368" y="256032"/>
            <a:ext cx="10789920" cy="237744"/>
          </a:xfrm>
          <a:prstGeom prst="rect">
            <a:avLst/>
          </a:prstGeom>
          <a:noFill/>
          <a:ln/>
        </p:spPr>
        <p:txBody>
          <a:bodyPr wrap="square" lIns="0" tIns="0" rIns="0" bIns="0" rtlCol="0" anchor="ctr"/>
          <a:lstStyle/>
          <a:p>
            <a:pPr marL="0" indent="0">
              <a:buNone/>
            </a:pPr>
            <a:r>
              <a:rPr lang="en-US" sz="850" b="1" dirty="0">
                <a:solidFill>
                  <a:srgbClr val="7DD3FC"/>
                </a:solidFill>
                <a:latin typeface="Aptos" pitchFamily="34" charset="0"/>
                <a:ea typeface="Aptos" pitchFamily="34" charset="-122"/>
                <a:cs typeface="Aptos" pitchFamily="34" charset="-120"/>
              </a:rPr>
              <a:t>CONCLUSIONI, LIMITI, PROSSIMI PASSI</a:t>
            </a:r>
            <a:endParaRPr lang="en-US" sz="850" dirty="0"/>
          </a:p>
        </p:txBody>
      </p:sp>
      <p:sp>
        <p:nvSpPr>
          <p:cNvPr id="3" name="Text 1"/>
          <p:cNvSpPr/>
          <p:nvPr/>
        </p:nvSpPr>
        <p:spPr>
          <a:xfrm>
            <a:off x="658368" y="566928"/>
            <a:ext cx="10835640" cy="530352"/>
          </a:xfrm>
          <a:prstGeom prst="rect">
            <a:avLst/>
          </a:prstGeom>
          <a:noFill/>
          <a:ln/>
        </p:spPr>
        <p:txBody>
          <a:bodyPr wrap="square" lIns="0" tIns="0" rIns="0" bIns="0" rtlCol="0" anchor="ctr">
            <a:normAutofit/>
          </a:bodyPr>
          <a:lstStyle/>
          <a:p>
            <a:pPr marL="0" indent="0">
              <a:buNone/>
            </a:pPr>
            <a:r>
              <a:rPr lang="en-US" sz="2500" b="1" dirty="0">
                <a:solidFill>
                  <a:srgbClr val="F8FAFC"/>
                </a:solidFill>
                <a:latin typeface="Aptos Display" pitchFamily="34" charset="0"/>
                <a:ea typeface="Aptos Display" pitchFamily="34" charset="-122"/>
                <a:cs typeface="Aptos Display" pitchFamily="34" charset="-120"/>
              </a:rPr>
              <a:t>Conclusioni — il segnale ausiliario aiuta solo se resta allineato al task</a:t>
            </a:r>
            <a:endParaRPr lang="en-US" sz="2500" dirty="0"/>
          </a:p>
        </p:txBody>
      </p:sp>
      <p:sp>
        <p:nvSpPr>
          <p:cNvPr id="4" name="Text 2"/>
          <p:cNvSpPr/>
          <p:nvPr/>
        </p:nvSpPr>
        <p:spPr>
          <a:xfrm>
            <a:off x="713232" y="1243584"/>
            <a:ext cx="2286000" cy="219456"/>
          </a:xfrm>
          <a:prstGeom prst="rect">
            <a:avLst/>
          </a:prstGeom>
          <a:noFill/>
          <a:ln/>
        </p:spPr>
        <p:txBody>
          <a:bodyPr wrap="square" lIns="0" tIns="0" rIns="0" bIns="0" rtlCol="0" anchor="ctr"/>
          <a:lstStyle/>
          <a:p>
            <a:pPr marL="0" indent="0">
              <a:buNone/>
            </a:pPr>
            <a:r>
              <a:rPr lang="en-US" sz="1200" b="1" dirty="0">
                <a:solidFill>
                  <a:srgbClr val="7DD3FC"/>
                </a:solidFill>
              </a:rPr>
              <a:t>Messaggio principale</a:t>
            </a:r>
            <a:endParaRPr lang="en-US" sz="1200" dirty="0"/>
          </a:p>
        </p:txBody>
      </p:sp>
      <p:sp>
        <p:nvSpPr>
          <p:cNvPr id="5" name="Text 3"/>
          <p:cNvSpPr/>
          <p:nvPr/>
        </p:nvSpPr>
        <p:spPr>
          <a:xfrm>
            <a:off x="713232" y="1572768"/>
            <a:ext cx="10332720" cy="566928"/>
          </a:xfrm>
          <a:prstGeom prst="rect">
            <a:avLst/>
          </a:prstGeom>
          <a:noFill/>
          <a:ln/>
        </p:spPr>
        <p:txBody>
          <a:bodyPr wrap="square" lIns="0" tIns="0" rIns="0" bIns="0" rtlCol="0" anchor="ctr">
            <a:normAutofit fontScale="92500" lnSpcReduction="20000"/>
          </a:bodyPr>
          <a:lstStyle/>
          <a:p>
            <a:r>
              <a:rPr lang="en-US" sz="2400" b="1" dirty="0">
                <a:solidFill>
                  <a:srgbClr val="F8FAFC"/>
                </a:solidFill>
              </a:rPr>
              <a:t>DQN impara Pong entro 1.8M step, ma target TD, esplorazione e reward shaping </a:t>
            </a:r>
            <a:r>
              <a:rPr lang="en-US" sz="2400" b="1" dirty="0" err="1">
                <a:solidFill>
                  <a:srgbClr val="F8FAFC"/>
                </a:solidFill>
              </a:rPr>
              <a:t>cambiano</a:t>
            </a:r>
            <a:r>
              <a:rPr lang="en-US" sz="2400" b="1" dirty="0">
                <a:solidFill>
                  <a:srgbClr val="F8FAFC"/>
                </a:solidFill>
              </a:rPr>
              <a:t> </a:t>
            </a:r>
            <a:r>
              <a:rPr lang="en-US" sz="2400" b="1" dirty="0" err="1">
                <a:solidFill>
                  <a:srgbClr val="F8FAFC"/>
                </a:solidFill>
              </a:rPr>
              <a:t>sensibilmente</a:t>
            </a:r>
            <a:r>
              <a:rPr lang="en-US" sz="2400" b="1" dirty="0">
                <a:solidFill>
                  <a:srgbClr val="F8FAFC"/>
                </a:solidFill>
              </a:rPr>
              <a:t> </a:t>
            </a:r>
            <a:r>
              <a:rPr lang="en-US" sz="2400" b="1" dirty="0" err="1">
                <a:solidFill>
                  <a:srgbClr val="F8FAFC"/>
                </a:solidFill>
              </a:rPr>
              <a:t>l'apprendimento</a:t>
            </a:r>
            <a:r>
              <a:rPr lang="en-US" sz="2400" b="1" dirty="0">
                <a:solidFill>
                  <a:srgbClr val="F8FAFC"/>
                </a:solidFill>
              </a:rPr>
              <a:t>.</a:t>
            </a:r>
            <a:endParaRPr lang="en-US" sz="2400" dirty="0"/>
          </a:p>
        </p:txBody>
      </p:sp>
      <p:sp>
        <p:nvSpPr>
          <p:cNvPr id="6" name="Shape 4"/>
          <p:cNvSpPr/>
          <p:nvPr/>
        </p:nvSpPr>
        <p:spPr>
          <a:xfrm>
            <a:off x="758952" y="2834640"/>
            <a:ext cx="3255264" cy="950976"/>
          </a:xfrm>
          <a:prstGeom prst="roundRect">
            <a:avLst>
              <a:gd name="adj" fmla="val 9615"/>
            </a:avLst>
          </a:prstGeom>
          <a:solidFill>
            <a:srgbClr val="0D1630"/>
          </a:solidFill>
          <a:ln w="12700">
            <a:solidFill>
              <a:srgbClr val="86EFAC">
                <a:alpha val="70000"/>
              </a:srgbClr>
            </a:solidFill>
            <a:prstDash val="solid"/>
          </a:ln>
        </p:spPr>
      </p:sp>
      <p:sp>
        <p:nvSpPr>
          <p:cNvPr id="7" name="Text 5"/>
          <p:cNvSpPr/>
          <p:nvPr/>
        </p:nvSpPr>
        <p:spPr>
          <a:xfrm>
            <a:off x="960120" y="2999232"/>
            <a:ext cx="2852928" cy="164592"/>
          </a:xfrm>
          <a:prstGeom prst="rect">
            <a:avLst/>
          </a:prstGeom>
          <a:noFill/>
          <a:ln/>
        </p:spPr>
        <p:txBody>
          <a:bodyPr wrap="square" lIns="0" tIns="0" rIns="0" bIns="0" rtlCol="0" anchor="ctr"/>
          <a:lstStyle/>
          <a:p>
            <a:pPr marL="0" indent="0">
              <a:buNone/>
            </a:pPr>
            <a:r>
              <a:rPr lang="en-US" sz="850" b="1" dirty="0">
                <a:solidFill>
                  <a:srgbClr val="86EFAC"/>
                </a:solidFill>
              </a:rPr>
              <a:t>Takeaway 1</a:t>
            </a:r>
            <a:endParaRPr lang="en-US" sz="850" dirty="0"/>
          </a:p>
        </p:txBody>
      </p:sp>
      <p:sp>
        <p:nvSpPr>
          <p:cNvPr id="8" name="Text 6"/>
          <p:cNvSpPr/>
          <p:nvPr/>
        </p:nvSpPr>
        <p:spPr>
          <a:xfrm>
            <a:off x="960120" y="3246120"/>
            <a:ext cx="2852928" cy="310896"/>
          </a:xfrm>
          <a:prstGeom prst="rect">
            <a:avLst/>
          </a:prstGeom>
          <a:noFill/>
          <a:ln/>
        </p:spPr>
        <p:txBody>
          <a:bodyPr wrap="square" lIns="0" tIns="0" rIns="0" bIns="0" rtlCol="0" anchor="ctr">
            <a:normAutofit/>
          </a:bodyPr>
          <a:lstStyle/>
          <a:p>
            <a:pPr marL="0" indent="0">
              <a:buNone/>
            </a:pPr>
            <a:r>
              <a:rPr lang="en-US" sz="880" dirty="0">
                <a:solidFill>
                  <a:srgbClr val="DCE4F2"/>
                </a:solidFill>
              </a:rPr>
              <a:t>Double DQN migliora il confronto paired finale (+3.12), ma con n=3 va letto come evidenza descrittiva.</a:t>
            </a:r>
            <a:endParaRPr lang="en-US" sz="880" dirty="0"/>
          </a:p>
        </p:txBody>
      </p:sp>
      <p:sp>
        <p:nvSpPr>
          <p:cNvPr id="9" name="Shape 7"/>
          <p:cNvSpPr/>
          <p:nvPr/>
        </p:nvSpPr>
        <p:spPr>
          <a:xfrm>
            <a:off x="4489704" y="2834640"/>
            <a:ext cx="3255264" cy="950976"/>
          </a:xfrm>
          <a:prstGeom prst="roundRect">
            <a:avLst>
              <a:gd name="adj" fmla="val 9615"/>
            </a:avLst>
          </a:prstGeom>
          <a:solidFill>
            <a:srgbClr val="0D1630"/>
          </a:solidFill>
          <a:ln w="12700">
            <a:solidFill>
              <a:srgbClr val="A78BFA">
                <a:alpha val="70000"/>
              </a:srgbClr>
            </a:solidFill>
            <a:prstDash val="solid"/>
          </a:ln>
        </p:spPr>
      </p:sp>
      <p:sp>
        <p:nvSpPr>
          <p:cNvPr id="10" name="Text 8"/>
          <p:cNvSpPr/>
          <p:nvPr/>
        </p:nvSpPr>
        <p:spPr>
          <a:xfrm>
            <a:off x="4690872" y="2999232"/>
            <a:ext cx="2852928" cy="164592"/>
          </a:xfrm>
          <a:prstGeom prst="rect">
            <a:avLst/>
          </a:prstGeom>
          <a:noFill/>
          <a:ln/>
        </p:spPr>
        <p:txBody>
          <a:bodyPr wrap="square" lIns="0" tIns="0" rIns="0" bIns="0" rtlCol="0" anchor="ctr"/>
          <a:lstStyle/>
          <a:p>
            <a:pPr marL="0" indent="0">
              <a:buNone/>
            </a:pPr>
            <a:r>
              <a:rPr lang="en-US" sz="850" b="1" dirty="0">
                <a:solidFill>
                  <a:srgbClr val="A78BFA"/>
                </a:solidFill>
              </a:rPr>
              <a:t>Takeaway 2</a:t>
            </a:r>
            <a:endParaRPr lang="en-US" sz="850" dirty="0"/>
          </a:p>
        </p:txBody>
      </p:sp>
      <p:sp>
        <p:nvSpPr>
          <p:cNvPr id="11" name="Text 9"/>
          <p:cNvSpPr/>
          <p:nvPr/>
        </p:nvSpPr>
        <p:spPr>
          <a:xfrm>
            <a:off x="4690872" y="3246120"/>
            <a:ext cx="2852928" cy="310896"/>
          </a:xfrm>
          <a:prstGeom prst="rect">
            <a:avLst/>
          </a:prstGeom>
          <a:noFill/>
          <a:ln/>
        </p:spPr>
        <p:txBody>
          <a:bodyPr wrap="square" lIns="0" tIns="0" rIns="0" bIns="0" rtlCol="0" anchor="ctr">
            <a:normAutofit/>
          </a:bodyPr>
          <a:lstStyle/>
          <a:p>
            <a:pPr marL="0" indent="0">
              <a:buNone/>
            </a:pPr>
            <a:r>
              <a:rPr lang="en-US" sz="880" dirty="0">
                <a:solidFill>
                  <a:srgbClr val="DCE4F2"/>
                </a:solidFill>
              </a:rPr>
              <a:t>PBRS κ=0.50 ottiene il miglior finale, mentre rally/contact aggressivi mostrano instabilità forte.</a:t>
            </a:r>
            <a:endParaRPr lang="en-US" sz="880" dirty="0"/>
          </a:p>
        </p:txBody>
      </p:sp>
      <p:sp>
        <p:nvSpPr>
          <p:cNvPr id="12" name="Shape 10"/>
          <p:cNvSpPr/>
          <p:nvPr/>
        </p:nvSpPr>
        <p:spPr>
          <a:xfrm>
            <a:off x="8220456" y="2834640"/>
            <a:ext cx="3255264" cy="950976"/>
          </a:xfrm>
          <a:prstGeom prst="roundRect">
            <a:avLst>
              <a:gd name="adj" fmla="val 9615"/>
            </a:avLst>
          </a:prstGeom>
          <a:solidFill>
            <a:srgbClr val="0D1630"/>
          </a:solidFill>
          <a:ln w="12700">
            <a:solidFill>
              <a:srgbClr val="FCD34D">
                <a:alpha val="70000"/>
              </a:srgbClr>
            </a:solidFill>
            <a:prstDash val="solid"/>
          </a:ln>
        </p:spPr>
      </p:sp>
      <p:sp>
        <p:nvSpPr>
          <p:cNvPr id="13" name="Text 11"/>
          <p:cNvSpPr/>
          <p:nvPr/>
        </p:nvSpPr>
        <p:spPr>
          <a:xfrm>
            <a:off x="8421624" y="2999232"/>
            <a:ext cx="2852928" cy="164592"/>
          </a:xfrm>
          <a:prstGeom prst="rect">
            <a:avLst/>
          </a:prstGeom>
          <a:noFill/>
          <a:ln/>
        </p:spPr>
        <p:txBody>
          <a:bodyPr wrap="square" lIns="0" tIns="0" rIns="0" bIns="0" rtlCol="0" anchor="ctr"/>
          <a:lstStyle/>
          <a:p>
            <a:pPr marL="0" indent="0">
              <a:buNone/>
            </a:pPr>
            <a:r>
              <a:rPr lang="en-US" sz="850" b="1" dirty="0">
                <a:solidFill>
                  <a:srgbClr val="FCD34D"/>
                </a:solidFill>
              </a:rPr>
              <a:t>Takeaway 3</a:t>
            </a:r>
            <a:endParaRPr lang="en-US" sz="850" dirty="0"/>
          </a:p>
        </p:txBody>
      </p:sp>
      <p:sp>
        <p:nvSpPr>
          <p:cNvPr id="14" name="Text 12"/>
          <p:cNvSpPr/>
          <p:nvPr/>
        </p:nvSpPr>
        <p:spPr>
          <a:xfrm>
            <a:off x="8421624" y="3246120"/>
            <a:ext cx="2852928" cy="310896"/>
          </a:xfrm>
          <a:prstGeom prst="rect">
            <a:avLst/>
          </a:prstGeom>
          <a:noFill/>
          <a:ln/>
        </p:spPr>
        <p:txBody>
          <a:bodyPr wrap="square" lIns="0" tIns="0" rIns="0" bIns="0" rtlCol="0" anchor="ctr">
            <a:normAutofit/>
          </a:bodyPr>
          <a:lstStyle/>
          <a:p>
            <a:pPr marL="0" indent="0">
              <a:buNone/>
            </a:pPr>
            <a:r>
              <a:rPr lang="en-US" sz="880" dirty="0">
                <a:solidFill>
                  <a:srgbClr val="DCE4F2"/>
                </a:solidFill>
              </a:rPr>
              <a:t>Le diagnostiche qualitative aiutano a spiegare i numeri, ma vanno separate dal confronto primario.</a:t>
            </a:r>
            <a:endParaRPr lang="en-US" sz="880" dirty="0"/>
          </a:p>
        </p:txBody>
      </p:sp>
      <p:sp>
        <p:nvSpPr>
          <p:cNvPr id="15" name="Shape 13"/>
          <p:cNvSpPr/>
          <p:nvPr/>
        </p:nvSpPr>
        <p:spPr>
          <a:xfrm>
            <a:off x="786384" y="4370832"/>
            <a:ext cx="4846320" cy="822960"/>
          </a:xfrm>
          <a:prstGeom prst="roundRect">
            <a:avLst>
              <a:gd name="adj" fmla="val 11111"/>
            </a:avLst>
          </a:prstGeom>
          <a:solidFill>
            <a:srgbClr val="111936"/>
          </a:solidFill>
          <a:ln w="12700">
            <a:solidFill>
              <a:srgbClr val="FDA4AF">
                <a:alpha val="55000"/>
              </a:srgbClr>
            </a:solidFill>
            <a:prstDash val="solid"/>
          </a:ln>
        </p:spPr>
      </p:sp>
      <p:sp>
        <p:nvSpPr>
          <p:cNvPr id="16" name="Text 14"/>
          <p:cNvSpPr/>
          <p:nvPr/>
        </p:nvSpPr>
        <p:spPr>
          <a:xfrm>
            <a:off x="987552" y="4553712"/>
            <a:ext cx="1463040" cy="182880"/>
          </a:xfrm>
          <a:prstGeom prst="rect">
            <a:avLst/>
          </a:prstGeom>
          <a:noFill/>
          <a:ln/>
        </p:spPr>
        <p:txBody>
          <a:bodyPr wrap="square" lIns="0" tIns="0" rIns="0" bIns="0" rtlCol="0" anchor="ctr"/>
          <a:lstStyle/>
          <a:p>
            <a:r>
              <a:rPr lang="en-US" sz="1050" b="1" dirty="0" err="1">
                <a:solidFill>
                  <a:srgbClr val="FDA4AF"/>
                </a:solidFill>
              </a:rPr>
              <a:t>Limiti</a:t>
            </a:r>
            <a:r>
              <a:rPr lang="en-US" sz="1050" b="1" dirty="0">
                <a:solidFill>
                  <a:srgbClr val="FDA4AF"/>
                </a:solidFill>
              </a:rPr>
              <a:t> del </a:t>
            </a:r>
            <a:r>
              <a:rPr lang="en-US" sz="1050" b="1" dirty="0" err="1">
                <a:solidFill>
                  <a:srgbClr val="FDA4AF"/>
                </a:solidFill>
              </a:rPr>
              <a:t>lavoro</a:t>
            </a:r>
            <a:endParaRPr lang="en-US" sz="1050" dirty="0" err="1"/>
          </a:p>
        </p:txBody>
      </p:sp>
      <p:sp>
        <p:nvSpPr>
          <p:cNvPr id="17" name="Text 15"/>
          <p:cNvSpPr/>
          <p:nvPr/>
        </p:nvSpPr>
        <p:spPr>
          <a:xfrm>
            <a:off x="987552" y="4791456"/>
            <a:ext cx="4297680" cy="173736"/>
          </a:xfrm>
          <a:prstGeom prst="rect">
            <a:avLst/>
          </a:prstGeom>
          <a:noFill/>
          <a:ln/>
        </p:spPr>
        <p:txBody>
          <a:bodyPr wrap="square" lIns="0" tIns="0" rIns="0" bIns="0" rtlCol="0" anchor="ctr">
            <a:normAutofit/>
          </a:bodyPr>
          <a:lstStyle/>
          <a:p>
            <a:pPr marL="0" indent="0">
              <a:buNone/>
            </a:pPr>
            <a:r>
              <a:rPr lang="en-US" sz="830" dirty="0">
                <a:solidFill>
                  <a:srgbClr val="DCE4F2"/>
                </a:solidFill>
              </a:rPr>
              <a:t>pochi seed · detector geometrici parziali · contatto raro · budget 1.8M step</a:t>
            </a:r>
            <a:endParaRPr lang="en-US" sz="830" dirty="0"/>
          </a:p>
        </p:txBody>
      </p:sp>
      <p:sp>
        <p:nvSpPr>
          <p:cNvPr id="18" name="Shape 16"/>
          <p:cNvSpPr/>
          <p:nvPr/>
        </p:nvSpPr>
        <p:spPr>
          <a:xfrm>
            <a:off x="6108192" y="4370832"/>
            <a:ext cx="4846320" cy="822960"/>
          </a:xfrm>
          <a:prstGeom prst="roundRect">
            <a:avLst>
              <a:gd name="adj" fmla="val 11111"/>
            </a:avLst>
          </a:prstGeom>
          <a:solidFill>
            <a:srgbClr val="111936"/>
          </a:solidFill>
          <a:ln w="12700">
            <a:solidFill>
              <a:srgbClr val="7DD3FC">
                <a:alpha val="55000"/>
              </a:srgbClr>
            </a:solidFill>
            <a:prstDash val="solid"/>
          </a:ln>
        </p:spPr>
      </p:sp>
      <p:sp>
        <p:nvSpPr>
          <p:cNvPr id="19" name="Text 17"/>
          <p:cNvSpPr/>
          <p:nvPr/>
        </p:nvSpPr>
        <p:spPr>
          <a:xfrm>
            <a:off x="6309360" y="4553712"/>
            <a:ext cx="1417320" cy="182880"/>
          </a:xfrm>
          <a:prstGeom prst="rect">
            <a:avLst/>
          </a:prstGeom>
          <a:noFill/>
          <a:ln/>
        </p:spPr>
        <p:txBody>
          <a:bodyPr wrap="square" lIns="0" tIns="0" rIns="0" bIns="0" rtlCol="0" anchor="ctr"/>
          <a:lstStyle/>
          <a:p>
            <a:pPr marL="0" indent="0">
              <a:buNone/>
            </a:pPr>
            <a:r>
              <a:rPr lang="en-US" sz="1050" b="1" dirty="0">
                <a:solidFill>
                  <a:srgbClr val="7DD3FC"/>
                </a:solidFill>
              </a:rPr>
              <a:t>Prossimi passi</a:t>
            </a:r>
            <a:endParaRPr lang="en-US" sz="1050" dirty="0"/>
          </a:p>
        </p:txBody>
      </p:sp>
      <p:sp>
        <p:nvSpPr>
          <p:cNvPr id="20" name="Text 18"/>
          <p:cNvSpPr/>
          <p:nvPr/>
        </p:nvSpPr>
        <p:spPr>
          <a:xfrm>
            <a:off x="6309360" y="4791456"/>
            <a:ext cx="4389120" cy="173736"/>
          </a:xfrm>
          <a:prstGeom prst="rect">
            <a:avLst/>
          </a:prstGeom>
          <a:noFill/>
          <a:ln/>
        </p:spPr>
        <p:txBody>
          <a:bodyPr wrap="square" lIns="0" tIns="0" rIns="0" bIns="0" rtlCol="0" anchor="ctr">
            <a:normAutofit/>
          </a:bodyPr>
          <a:lstStyle/>
          <a:p>
            <a:pPr marL="0" indent="0">
              <a:buNone/>
            </a:pPr>
            <a:r>
              <a:rPr lang="en-US" sz="830" dirty="0">
                <a:solidFill>
                  <a:srgbClr val="DCE4F2"/>
                </a:solidFill>
              </a:rPr>
              <a:t>più seed · training più lunghi · altri Atari · detector/stati più robusti · shaping più sistematico</a:t>
            </a:r>
            <a:endParaRPr lang="en-US" sz="830" dirty="0"/>
          </a:p>
        </p:txBody>
      </p:sp>
      <p:sp>
        <p:nvSpPr>
          <p:cNvPr id="21" name="Text 19"/>
          <p:cNvSpPr/>
          <p:nvPr/>
        </p:nvSpPr>
        <p:spPr>
          <a:xfrm>
            <a:off x="4592320" y="5554472"/>
            <a:ext cx="2286000" cy="438912"/>
          </a:xfrm>
          <a:prstGeom prst="rect">
            <a:avLst/>
          </a:prstGeom>
          <a:noFill/>
          <a:ln/>
        </p:spPr>
        <p:txBody>
          <a:bodyPr wrap="square" lIns="0" tIns="0" rIns="0" bIns="0" rtlCol="0" anchor="ctr"/>
          <a:lstStyle/>
          <a:p>
            <a:pPr algn="ctr"/>
            <a:r>
              <a:rPr lang="en-US" sz="2000" b="1" dirty="0">
                <a:solidFill>
                  <a:srgbClr val="F8FAFC"/>
                </a:solidFill>
              </a:rPr>
              <a:t>GRAZIE PER L'ATTENZIONE</a:t>
            </a:r>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1200">
                <a:solidFill>
                  <a:srgbClr val="6E7897"/>
                </a:solidFill>
              </a:defRPr>
            </a:lvl1pPr>
          </a:lstStyle>
          <a:p>
            <a:pPr algn="l"/>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9</Slides>
  <Notes>9</Notes>
  <HiddenSlides>0</HiddenSlides>
  <MMClips>0</MMClips>
  <ScaleCrop>false</ScaleCrop>
  <HeadingPairs>
    <vt:vector size="4" baseType="variant">
      <vt:variant>
        <vt:lpstr>Tema</vt:lpstr>
      </vt:variant>
      <vt:variant>
        <vt:i4>1</vt:i4>
      </vt:variant>
      <vt:variant>
        <vt:lpstr>Titoli diapositive</vt:lpstr>
      </vt:variant>
      <vt:variant>
        <vt:i4>9</vt:i4>
      </vt:variant>
    </vt:vector>
  </HeadingPairs>
  <TitlesOfParts>
    <vt:vector size="10" baseType="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Atari Pong — DQN, Double DQN e Reward Shaping</dc:title>
  <dc:subject>DL26 final presentation - Atari Pong</dc:subject>
  <dc:creator>Alessandro Gullotti</dc:creator>
  <cp:lastModifiedBy>Alessandro Gullotti</cp:lastModifiedBy>
  <cp:revision>125</cp:revision>
  <dcterms:created xsi:type="dcterms:W3CDTF">2026-09-23T18:33:30Z</dcterms:created>
  <dcterms:modified xsi:type="dcterms:W3CDTF">2026-09-23T20:31:31Z</dcterms:modified>
</cp:coreProperties>
</file>